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5143500" cx="9144000"/>
  <p:notesSz cx="5143500" cy="9144000"/>
  <p:embeddedFontLst>
    <p:embeddedFont>
      <p:font typeface="Inter"/>
      <p:regular r:id="rId27"/>
      <p:bold r:id="rId28"/>
      <p:italic r:id="rId29"/>
      <p:boldItalic r:id="rId30"/>
    </p:embeddedFont>
    <p:embeddedFont>
      <p:font typeface="Petrona"/>
      <p:bold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Inter-bold.fntdata"/><Relationship Id="rId27" Type="http://schemas.openxmlformats.org/officeDocument/2006/relationships/font" Target="fonts/Inter-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Inter-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etrona-bold.fntdata"/><Relationship Id="rId30" Type="http://schemas.openxmlformats.org/officeDocument/2006/relationships/font" Target="fonts/Inter-boldItalic.fntdata"/><Relationship Id="rId11" Type="http://schemas.openxmlformats.org/officeDocument/2006/relationships/slide" Target="slides/slide7.xml"/><Relationship Id="rId10" Type="http://schemas.openxmlformats.org/officeDocument/2006/relationships/slide" Target="slides/slide6.xml"/><Relationship Id="rId32" Type="http://schemas.openxmlformats.org/officeDocument/2006/relationships/font" Target="fonts/Petrona-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 name="Google Shape;1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 name="Google Shape;1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 name="Google Shape;3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f765143f1c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g3f765143f1c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g3f765143f1c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76421cc74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g3f76421cc74_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3f76421cc74_1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76421cc74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f76421cc74_1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f76421cc74_1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76421cc74_1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g3f76421cc74_1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g3f76421cc74_1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76421cc74_1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3f76421cc74_1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g3f76421cc74_1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f76421cc74_1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f76421cc74_1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g3f76421cc74_1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2" name="Google Shape;12;p2"/>
          <p:cNvSpPr/>
          <p:nvPr/>
        </p:nvSpPr>
        <p:spPr>
          <a:xfrm>
            <a:off x="0" y="0"/>
            <a:ext cx="9144000" cy="51435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jpg"/><Relationship Id="rId4" Type="http://schemas.openxmlformats.org/officeDocument/2006/relationships/image" Target="../media/image15.jpg"/><Relationship Id="rId5"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jpg"/><Relationship Id="rId4"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jpg"/><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hyperlink" Target="https://github.com/lilykendall/adsp32021_mlops_fina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 name="Shape 18"/>
        <p:cNvGrpSpPr/>
        <p:nvPr/>
      </p:nvGrpSpPr>
      <p:grpSpPr>
        <a:xfrm>
          <a:off x="0" y="0"/>
          <a:ext cx="0" cy="0"/>
          <a:chOff x="0" y="0"/>
          <a:chExt cx="0" cy="0"/>
        </a:xfrm>
      </p:grpSpPr>
      <p:sp>
        <p:nvSpPr>
          <p:cNvPr id="19" name="Google Shape;19;p4"/>
          <p:cNvSpPr/>
          <p:nvPr/>
        </p:nvSpPr>
        <p:spPr>
          <a:xfrm>
            <a:off x="0" y="0"/>
            <a:ext cx="3429000" cy="5143500"/>
          </a:xfrm>
          <a:prstGeom prst="rect">
            <a:avLst/>
          </a:prstGeom>
          <a:solidFill>
            <a:srgbClr val="CC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 name="Google Shape;20;p4"/>
          <p:cNvPicPr preferRelativeResize="0"/>
          <p:nvPr/>
        </p:nvPicPr>
        <p:blipFill rotWithShape="1">
          <a:blip r:embed="rId3">
            <a:alphaModFix/>
          </a:blip>
          <a:srcRect b="0" l="0" r="0" t="0"/>
          <a:stretch/>
        </p:blipFill>
        <p:spPr>
          <a:xfrm>
            <a:off x="61987" y="368424"/>
            <a:ext cx="3304952" cy="4406652"/>
          </a:xfrm>
          <a:prstGeom prst="rect">
            <a:avLst/>
          </a:prstGeom>
          <a:noFill/>
          <a:ln>
            <a:noFill/>
          </a:ln>
        </p:spPr>
      </p:pic>
      <p:sp>
        <p:nvSpPr>
          <p:cNvPr id="21" name="Google Shape;21;p4"/>
          <p:cNvSpPr/>
          <p:nvPr/>
        </p:nvSpPr>
        <p:spPr>
          <a:xfrm>
            <a:off x="3925119" y="2164705"/>
            <a:ext cx="4722763" cy="81409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550"/>
              <a:buFont typeface="Petrona"/>
              <a:buNone/>
            </a:pPr>
            <a:r>
              <a:rPr b="1" i="0" lang="en-US" sz="2550" u="none" cap="none" strike="noStrike">
                <a:solidFill>
                  <a:srgbClr val="000000"/>
                </a:solidFill>
                <a:latin typeface="Petrona"/>
                <a:ea typeface="Petrona"/>
                <a:cs typeface="Petrona"/>
                <a:sym typeface="Petrona"/>
              </a:rPr>
              <a:t>Weather Prediction MLOps System</a:t>
            </a:r>
            <a:endParaRPr b="0" i="0" sz="25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5"/>
          <p:cNvSpPr/>
          <p:nvPr/>
        </p:nvSpPr>
        <p:spPr>
          <a:xfrm>
            <a:off x="496044" y="329873"/>
            <a:ext cx="8151900" cy="4071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550"/>
              <a:buFont typeface="Petrona"/>
              <a:buNone/>
            </a:pPr>
            <a:r>
              <a:rPr b="1" i="0" lang="en-US" sz="2550" u="none" cap="none" strike="noStrike">
                <a:solidFill>
                  <a:srgbClr val="000000"/>
                </a:solidFill>
                <a:latin typeface="Petrona"/>
                <a:ea typeface="Petrona"/>
                <a:cs typeface="Petrona"/>
                <a:sym typeface="Petrona"/>
              </a:rPr>
              <a:t>Problem Statement</a:t>
            </a:r>
            <a:endParaRPr b="0" i="0" sz="2550" u="none" cap="none" strike="noStrike">
              <a:solidFill>
                <a:schemeClr val="dk1"/>
              </a:solidFill>
              <a:latin typeface="Calibri"/>
              <a:ea typeface="Calibri"/>
              <a:cs typeface="Calibri"/>
              <a:sym typeface="Calibri"/>
            </a:endParaRPr>
          </a:p>
        </p:txBody>
      </p:sp>
      <p:sp>
        <p:nvSpPr>
          <p:cNvPr id="28" name="Google Shape;28;p5"/>
          <p:cNvSpPr/>
          <p:nvPr/>
        </p:nvSpPr>
        <p:spPr>
          <a:xfrm>
            <a:off x="496050" y="1263000"/>
            <a:ext cx="5296200" cy="23226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950"/>
              <a:buFont typeface="Inter"/>
              <a:buNone/>
            </a:pPr>
            <a:r>
              <a:rPr b="0" i="0" lang="en-US" sz="950" u="none" cap="none" strike="noStrike">
                <a:solidFill>
                  <a:srgbClr val="272525"/>
                </a:solidFill>
                <a:latin typeface="Inter"/>
                <a:ea typeface="Inter"/>
                <a:cs typeface="Inter"/>
                <a:sym typeface="Inter"/>
              </a:rPr>
              <a:t>Weather forecasts drive real, time-sensitive decisions — from commuting and event planning to logistics and emergency preparedness — yet most publicly accessible forecast tools are static, black-box services that offer no visibility into model performance, no ability to retrain as conditions change, and no mechanism to detect when predictions start to degrade. In practice, weather-dependent systems need not just a prediction, but a </a:t>
            </a:r>
            <a:r>
              <a:rPr b="0" i="1" lang="en-US" sz="950" u="none" cap="none" strike="noStrike">
                <a:solidFill>
                  <a:srgbClr val="272525"/>
                </a:solidFill>
                <a:latin typeface="Inter"/>
                <a:ea typeface="Inter"/>
                <a:cs typeface="Inter"/>
                <a:sym typeface="Inter"/>
              </a:rPr>
              <a:t>trustworthy, maintainable, and monitored</a:t>
            </a:r>
            <a:r>
              <a:rPr b="0" i="0" lang="en-US" sz="950" u="none" cap="none" strike="noStrike">
                <a:solidFill>
                  <a:srgbClr val="272525"/>
                </a:solidFill>
                <a:latin typeface="Inter"/>
                <a:ea typeface="Inter"/>
                <a:cs typeface="Inter"/>
                <a:sym typeface="Inter"/>
              </a:rPr>
              <a:t> prediction pipeline: one where the model's accuracy is tracked over time, retraining is automated as new data arrives, and drift in incoming data or model performance is caught before it silently erodes decision quality.</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1050"/>
              </a:spcBef>
              <a:spcAft>
                <a:spcPts val="0"/>
              </a:spcAft>
              <a:buClr>
                <a:srgbClr val="272525"/>
              </a:buClr>
              <a:buSzPts val="950"/>
              <a:buFont typeface="Inter"/>
              <a:buNone/>
            </a:pPr>
            <a:r>
              <a:rPr b="0" i="0" lang="en-US" sz="950" u="none" cap="none" strike="noStrike">
                <a:solidFill>
                  <a:srgbClr val="272525"/>
                </a:solidFill>
                <a:latin typeface="Inter"/>
                <a:ea typeface="Inter"/>
                <a:cs typeface="Inter"/>
                <a:sym typeface="Inter"/>
              </a:rPr>
              <a:t>This project addresses that gap by building an end-to-end MLOps pipeline — not just a weather model — that predicts adverse weather conditions (e.g., rain/bad weather) at a given location using historical station data (NOAA GHCND) and live observations/forecasts (NWS). The core challenge is less "can we predict rain" and more "can we operationalize that prediction responsibly": automating data ingestion and feature versioning, tracking experiments and promoting only vetted champion models, serving predictions through a containerized real-time API, and continuously monitoring the deployed model for data drift and performance decay — with alerting when it degrades.</a:t>
            </a:r>
            <a:endParaRPr b="0" i="0" sz="950" u="none" cap="none" strike="noStrike">
              <a:solidFill>
                <a:schemeClr val="dk1"/>
              </a:solidFill>
              <a:latin typeface="Calibri"/>
              <a:ea typeface="Calibri"/>
              <a:cs typeface="Calibri"/>
              <a:sym typeface="Calibri"/>
            </a:endParaRPr>
          </a:p>
        </p:txBody>
      </p:sp>
      <p:pic>
        <p:nvPicPr>
          <p:cNvPr descr="climate related rainy clouds with rain vector in flat style, (Provided by Getty Images)" id="29" name="Google Shape;29;p5"/>
          <p:cNvPicPr preferRelativeResize="0"/>
          <p:nvPr/>
        </p:nvPicPr>
        <p:blipFill>
          <a:blip r:embed="rId3">
            <a:alphaModFix/>
          </a:blip>
          <a:stretch>
            <a:fillRect/>
          </a:stretch>
        </p:blipFill>
        <p:spPr>
          <a:xfrm>
            <a:off x="6460476" y="472325"/>
            <a:ext cx="2322601" cy="23226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6"/>
          <p:cNvSpPr/>
          <p:nvPr/>
        </p:nvSpPr>
        <p:spPr>
          <a:xfrm>
            <a:off x="496125" y="341125"/>
            <a:ext cx="1785900" cy="339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50"/>
              <a:buFont typeface="Petrona"/>
              <a:buNone/>
            </a:pPr>
            <a:r>
              <a:rPr b="1" i="0" lang="en-US" sz="2400" u="none" cap="none" strike="noStrike">
                <a:solidFill>
                  <a:srgbClr val="000000"/>
                </a:solidFill>
                <a:latin typeface="Petrona"/>
                <a:ea typeface="Petrona"/>
                <a:cs typeface="Petrona"/>
                <a:sym typeface="Petrona"/>
              </a:rPr>
              <a:t>EDA</a:t>
            </a:r>
            <a:endParaRPr b="0" i="0" sz="2400" u="none" cap="none" strike="noStrike">
              <a:solidFill>
                <a:schemeClr val="dk1"/>
              </a:solidFill>
              <a:latin typeface="Calibri"/>
              <a:ea typeface="Calibri"/>
              <a:cs typeface="Calibri"/>
              <a:sym typeface="Calibri"/>
            </a:endParaRPr>
          </a:p>
        </p:txBody>
      </p:sp>
      <p:sp>
        <p:nvSpPr>
          <p:cNvPr id="36" name="Google Shape;36;p6"/>
          <p:cNvSpPr/>
          <p:nvPr/>
        </p:nvSpPr>
        <p:spPr>
          <a:xfrm>
            <a:off x="1515588" y="4485625"/>
            <a:ext cx="2168400" cy="288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2525"/>
              </a:buClr>
              <a:buSzPts val="450"/>
              <a:buFont typeface="Inter"/>
              <a:buNone/>
            </a:pPr>
            <a:r>
              <a:rPr b="0" i="0" lang="en-US" sz="1600" u="none" cap="none" strike="noStrike">
                <a:solidFill>
                  <a:srgbClr val="272525"/>
                </a:solidFill>
                <a:latin typeface="Inter"/>
                <a:ea typeface="Inter"/>
                <a:cs typeface="Inter"/>
                <a:sym typeface="Inter"/>
              </a:rPr>
              <a:t>Station </a:t>
            </a:r>
            <a:r>
              <a:rPr lang="en-US" sz="1600">
                <a:solidFill>
                  <a:srgbClr val="272525"/>
                </a:solidFill>
                <a:latin typeface="Inter"/>
                <a:ea typeface="Inter"/>
                <a:cs typeface="Inter"/>
                <a:sym typeface="Inter"/>
              </a:rPr>
              <a:t>D</a:t>
            </a:r>
            <a:r>
              <a:rPr b="0" i="0" lang="en-US" sz="1600" u="none" cap="none" strike="noStrike">
                <a:solidFill>
                  <a:srgbClr val="272525"/>
                </a:solidFill>
                <a:latin typeface="Inter"/>
                <a:ea typeface="Inter"/>
                <a:cs typeface="Inter"/>
                <a:sym typeface="Inter"/>
              </a:rPr>
              <a:t>ate </a:t>
            </a:r>
            <a:r>
              <a:rPr lang="en-US" sz="1600">
                <a:solidFill>
                  <a:srgbClr val="272525"/>
                </a:solidFill>
                <a:latin typeface="Inter"/>
                <a:ea typeface="Inter"/>
                <a:cs typeface="Inter"/>
                <a:sym typeface="Inter"/>
              </a:rPr>
              <a:t>C</a:t>
            </a:r>
            <a:r>
              <a:rPr b="0" i="0" lang="en-US" sz="1600" u="none" cap="none" strike="noStrike">
                <a:solidFill>
                  <a:srgbClr val="272525"/>
                </a:solidFill>
                <a:latin typeface="Inter"/>
                <a:ea typeface="Inter"/>
                <a:cs typeface="Inter"/>
                <a:sym typeface="Inter"/>
              </a:rPr>
              <a:t>overage</a:t>
            </a:r>
            <a:endParaRPr b="0" i="0" sz="1600" u="none" cap="none" strike="noStrike">
              <a:solidFill>
                <a:schemeClr val="dk1"/>
              </a:solidFill>
              <a:latin typeface="Calibri"/>
              <a:ea typeface="Calibri"/>
              <a:cs typeface="Calibri"/>
              <a:sym typeface="Calibri"/>
            </a:endParaRPr>
          </a:p>
        </p:txBody>
      </p:sp>
      <p:pic>
        <p:nvPicPr>
          <p:cNvPr descr="preencoded.png" id="37" name="Google Shape;37;p6"/>
          <p:cNvPicPr preferRelativeResize="0"/>
          <p:nvPr/>
        </p:nvPicPr>
        <p:blipFill rotWithShape="1">
          <a:blip r:embed="rId3">
            <a:alphaModFix/>
          </a:blip>
          <a:srcRect b="0" l="0" r="0" t="0"/>
          <a:stretch/>
        </p:blipFill>
        <p:spPr>
          <a:xfrm>
            <a:off x="391900" y="1076450"/>
            <a:ext cx="4601024" cy="3164350"/>
          </a:xfrm>
          <a:prstGeom prst="rect">
            <a:avLst/>
          </a:prstGeom>
          <a:noFill/>
          <a:ln>
            <a:noFill/>
          </a:ln>
        </p:spPr>
      </p:pic>
      <p:sp>
        <p:nvSpPr>
          <p:cNvPr id="38" name="Google Shape;38;p6"/>
          <p:cNvSpPr/>
          <p:nvPr/>
        </p:nvSpPr>
        <p:spPr>
          <a:xfrm>
            <a:off x="5738200" y="4702650"/>
            <a:ext cx="3037200" cy="288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2525"/>
              </a:buClr>
              <a:buSzPts val="450"/>
              <a:buFont typeface="Inter"/>
              <a:buNone/>
            </a:pPr>
            <a:r>
              <a:rPr b="0" i="0" lang="en-US" sz="1600" u="none" cap="none" strike="noStrike">
                <a:solidFill>
                  <a:srgbClr val="272525"/>
                </a:solidFill>
                <a:latin typeface="Inter"/>
                <a:ea typeface="Inter"/>
                <a:cs typeface="Inter"/>
                <a:sym typeface="Inter"/>
              </a:rPr>
              <a:t>Midway </a:t>
            </a:r>
            <a:r>
              <a:rPr lang="en-US" sz="1600">
                <a:solidFill>
                  <a:srgbClr val="272525"/>
                </a:solidFill>
                <a:latin typeface="Inter"/>
                <a:ea typeface="Inter"/>
                <a:cs typeface="Inter"/>
                <a:sym typeface="Inter"/>
              </a:rPr>
              <a:t>F</a:t>
            </a:r>
            <a:r>
              <a:rPr b="0" i="0" lang="en-US" sz="1600" u="none" cap="none" strike="noStrike">
                <a:solidFill>
                  <a:srgbClr val="272525"/>
                </a:solidFill>
                <a:latin typeface="Inter"/>
                <a:ea typeface="Inter"/>
                <a:cs typeface="Inter"/>
                <a:sym typeface="Inter"/>
              </a:rPr>
              <a:t>eature </a:t>
            </a:r>
            <a:r>
              <a:rPr lang="en-US" sz="1600">
                <a:solidFill>
                  <a:srgbClr val="272525"/>
                </a:solidFill>
                <a:latin typeface="Inter"/>
                <a:ea typeface="Inter"/>
                <a:cs typeface="Inter"/>
                <a:sym typeface="Inter"/>
              </a:rPr>
              <a:t>D</a:t>
            </a:r>
            <a:r>
              <a:rPr b="0" i="0" lang="en-US" sz="1600" u="none" cap="none" strike="noStrike">
                <a:solidFill>
                  <a:srgbClr val="272525"/>
                </a:solidFill>
                <a:latin typeface="Inter"/>
                <a:ea typeface="Inter"/>
                <a:cs typeface="Inter"/>
                <a:sym typeface="Inter"/>
              </a:rPr>
              <a:t>istributions</a:t>
            </a:r>
            <a:endParaRPr b="0" i="0" sz="1600" u="none" cap="none" strike="noStrike">
              <a:solidFill>
                <a:schemeClr val="dk1"/>
              </a:solidFill>
              <a:latin typeface="Calibri"/>
              <a:ea typeface="Calibri"/>
              <a:cs typeface="Calibri"/>
              <a:sym typeface="Calibri"/>
            </a:endParaRPr>
          </a:p>
        </p:txBody>
      </p:sp>
      <p:pic>
        <p:nvPicPr>
          <p:cNvPr descr="preencoded.png" id="39" name="Google Shape;39;p6"/>
          <p:cNvPicPr preferRelativeResize="0"/>
          <p:nvPr/>
        </p:nvPicPr>
        <p:blipFill rotWithShape="1">
          <a:blip r:embed="rId4">
            <a:alphaModFix/>
          </a:blip>
          <a:srcRect b="0" l="0" r="0" t="0"/>
          <a:stretch/>
        </p:blipFill>
        <p:spPr>
          <a:xfrm>
            <a:off x="5346274" y="2280803"/>
            <a:ext cx="3429124" cy="2406350"/>
          </a:xfrm>
          <a:prstGeom prst="rect">
            <a:avLst/>
          </a:prstGeom>
          <a:noFill/>
          <a:ln>
            <a:noFill/>
          </a:ln>
        </p:spPr>
      </p:pic>
      <p:sp>
        <p:nvSpPr>
          <p:cNvPr id="40" name="Google Shape;40;p6"/>
          <p:cNvSpPr/>
          <p:nvPr/>
        </p:nvSpPr>
        <p:spPr>
          <a:xfrm>
            <a:off x="5542301" y="1961500"/>
            <a:ext cx="3429000" cy="288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2525"/>
              </a:buClr>
              <a:buSzPts val="450"/>
              <a:buFont typeface="Inter"/>
              <a:buNone/>
            </a:pPr>
            <a:r>
              <a:rPr b="0" i="0" lang="en-US" sz="1600" u="none" cap="none" strike="noStrike">
                <a:solidFill>
                  <a:srgbClr val="272525"/>
                </a:solidFill>
                <a:latin typeface="Inter"/>
                <a:ea typeface="Inter"/>
                <a:cs typeface="Inter"/>
                <a:sym typeface="Inter"/>
              </a:rPr>
              <a:t>Midway </a:t>
            </a:r>
            <a:r>
              <a:rPr lang="en-US" sz="1600">
                <a:solidFill>
                  <a:srgbClr val="272525"/>
                </a:solidFill>
                <a:latin typeface="Inter"/>
                <a:ea typeface="Inter"/>
                <a:cs typeface="Inter"/>
                <a:sym typeface="Inter"/>
              </a:rPr>
              <a:t>T</a:t>
            </a:r>
            <a:r>
              <a:rPr b="0" i="0" lang="en-US" sz="1600" u="none" cap="none" strike="noStrike">
                <a:solidFill>
                  <a:srgbClr val="272525"/>
                </a:solidFill>
                <a:latin typeface="Inter"/>
                <a:ea typeface="Inter"/>
                <a:cs typeface="Inter"/>
                <a:sym typeface="Inter"/>
              </a:rPr>
              <a:t>emperature </a:t>
            </a:r>
            <a:r>
              <a:rPr lang="en-US" sz="1600">
                <a:solidFill>
                  <a:srgbClr val="272525"/>
                </a:solidFill>
                <a:latin typeface="Inter"/>
                <a:ea typeface="Inter"/>
                <a:cs typeface="Inter"/>
                <a:sym typeface="Inter"/>
              </a:rPr>
              <a:t>S</a:t>
            </a:r>
            <a:r>
              <a:rPr b="0" i="0" lang="en-US" sz="1600" u="none" cap="none" strike="noStrike">
                <a:solidFill>
                  <a:srgbClr val="272525"/>
                </a:solidFill>
                <a:latin typeface="Inter"/>
                <a:ea typeface="Inter"/>
                <a:cs typeface="Inter"/>
                <a:sym typeface="Inter"/>
              </a:rPr>
              <a:t>easonality</a:t>
            </a:r>
            <a:endParaRPr b="0" i="0" sz="1600" u="none" cap="none" strike="noStrike">
              <a:solidFill>
                <a:schemeClr val="dk1"/>
              </a:solidFill>
              <a:latin typeface="Calibri"/>
              <a:ea typeface="Calibri"/>
              <a:cs typeface="Calibri"/>
              <a:sym typeface="Calibri"/>
            </a:endParaRPr>
          </a:p>
        </p:txBody>
      </p:sp>
      <p:pic>
        <p:nvPicPr>
          <p:cNvPr descr="preencoded.png" id="41" name="Google Shape;41;p6"/>
          <p:cNvPicPr preferRelativeResize="0"/>
          <p:nvPr/>
        </p:nvPicPr>
        <p:blipFill rotWithShape="1">
          <a:blip r:embed="rId5">
            <a:alphaModFix/>
          </a:blip>
          <a:srcRect b="0" l="0" r="0" t="0"/>
          <a:stretch/>
        </p:blipFill>
        <p:spPr>
          <a:xfrm>
            <a:off x="5151140" y="136397"/>
            <a:ext cx="3819385" cy="1794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7"/>
          <p:cNvSpPr/>
          <p:nvPr/>
        </p:nvSpPr>
        <p:spPr>
          <a:xfrm>
            <a:off x="496119" y="1538734"/>
            <a:ext cx="8151763" cy="4070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550"/>
              <a:buFont typeface="Petrona"/>
              <a:buNone/>
            </a:pPr>
            <a:r>
              <a:rPr b="1" i="0" lang="en-US" sz="2550" u="none" cap="none" strike="noStrike">
                <a:solidFill>
                  <a:srgbClr val="000000"/>
                </a:solidFill>
                <a:latin typeface="Petrona"/>
                <a:ea typeface="Petrona"/>
                <a:cs typeface="Petrona"/>
                <a:sym typeface="Petrona"/>
              </a:rPr>
              <a:t>Data Pipeline</a:t>
            </a:r>
            <a:endParaRPr b="0" i="0" sz="2550" u="none" cap="none" strike="noStrike">
              <a:solidFill>
                <a:schemeClr val="dk1"/>
              </a:solidFill>
              <a:latin typeface="Calibri"/>
              <a:ea typeface="Calibri"/>
              <a:cs typeface="Calibri"/>
              <a:sym typeface="Calibri"/>
            </a:endParaRPr>
          </a:p>
        </p:txBody>
      </p:sp>
      <p:sp>
        <p:nvSpPr>
          <p:cNvPr id="48" name="Google Shape;48;p7"/>
          <p:cNvSpPr/>
          <p:nvPr/>
        </p:nvSpPr>
        <p:spPr>
          <a:xfrm>
            <a:off x="496119" y="2193801"/>
            <a:ext cx="8151763" cy="141089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950"/>
              <a:buFont typeface="Inter"/>
              <a:buNone/>
            </a:pPr>
            <a:r>
              <a:rPr b="0" i="0" lang="en-US" sz="950" u="none" cap="none" strike="noStrike">
                <a:solidFill>
                  <a:srgbClr val="272525"/>
                </a:solidFill>
                <a:latin typeface="Inter"/>
                <a:ea typeface="Inter"/>
                <a:cs typeface="Inter"/>
                <a:sym typeface="Inter"/>
              </a:rPr>
              <a:t>Instantiated an automated data pipeline pulling in data from 11 stations, 12 datatypes covering different aspects of the weather (Temperature(s), wind speed(s) and direction, condition flags, etc..) into a </a:t>
            </a:r>
            <a:r>
              <a:rPr b="0" i="1" lang="en-US" sz="950" u="none" cap="none" strike="noStrike">
                <a:solidFill>
                  <a:srgbClr val="272525"/>
                </a:solidFill>
                <a:latin typeface="Inter"/>
                <a:ea typeface="Inter"/>
                <a:cs typeface="Inter"/>
                <a:sym typeface="Inter"/>
              </a:rPr>
              <a:t>bronze</a:t>
            </a:r>
            <a:r>
              <a:rPr b="0" i="0" lang="en-US" sz="950" u="none" cap="none" strike="noStrike">
                <a:solidFill>
                  <a:srgbClr val="272525"/>
                </a:solidFill>
                <a:latin typeface="Inter"/>
                <a:ea typeface="Inter"/>
                <a:cs typeface="Inter"/>
                <a:sym typeface="Inter"/>
              </a:rPr>
              <a:t> layer.</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1050"/>
              </a:spcBef>
              <a:spcAft>
                <a:spcPts val="0"/>
              </a:spcAft>
              <a:buClr>
                <a:srgbClr val="272525"/>
              </a:buClr>
              <a:buSzPts val="950"/>
              <a:buFont typeface="Inter"/>
              <a:buNone/>
            </a:pPr>
            <a:r>
              <a:rPr b="0" i="0" lang="en-US" sz="950" u="none" cap="none" strike="noStrike">
                <a:solidFill>
                  <a:srgbClr val="272525"/>
                </a:solidFill>
                <a:latin typeface="Inter"/>
                <a:ea typeface="Inter"/>
                <a:cs typeface="Inter"/>
                <a:sym typeface="Inter"/>
              </a:rPr>
              <a:t>Stations in and external to Chicago - IA, WI, IN, MI airports.</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1050"/>
              </a:spcBef>
              <a:spcAft>
                <a:spcPts val="0"/>
              </a:spcAft>
              <a:buClr>
                <a:srgbClr val="272525"/>
              </a:buClr>
              <a:buSzPts val="950"/>
              <a:buFont typeface="Inter"/>
              <a:buNone/>
            </a:pPr>
            <a:r>
              <a:rPr b="0" i="0" lang="en-US" sz="950" u="none" cap="none" strike="noStrike">
                <a:solidFill>
                  <a:srgbClr val="272525"/>
                </a:solidFill>
                <a:latin typeface="Inter"/>
                <a:ea typeface="Inter"/>
                <a:cs typeface="Inter"/>
                <a:sym typeface="Inter"/>
              </a:rPr>
              <a:t>PK'd on station, date pairs.</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1050"/>
              </a:spcBef>
              <a:spcAft>
                <a:spcPts val="0"/>
              </a:spcAft>
              <a:buClr>
                <a:srgbClr val="272525"/>
              </a:buClr>
              <a:buSzPts val="950"/>
              <a:buFont typeface="Inter"/>
              <a:buNone/>
            </a:pPr>
            <a:r>
              <a:rPr b="0" i="0" lang="en-US" sz="950" u="none" cap="none" strike="noStrike">
                <a:solidFill>
                  <a:srgbClr val="272525"/>
                </a:solidFill>
                <a:latin typeface="Inter"/>
                <a:ea typeface="Inter"/>
                <a:cs typeface="Inter"/>
                <a:sym typeface="Inter"/>
              </a:rPr>
              <a:t>Data fetched from December 2019, with updated data coming in nightly on an automated job.</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8"/>
          <p:cNvSpPr/>
          <p:nvPr/>
        </p:nvSpPr>
        <p:spPr>
          <a:xfrm>
            <a:off x="444594" y="312134"/>
            <a:ext cx="8151900" cy="4071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550"/>
              <a:buFont typeface="Petrona"/>
              <a:buNone/>
            </a:pPr>
            <a:r>
              <a:rPr b="1" lang="en-US" sz="2550">
                <a:latin typeface="Petrona"/>
                <a:ea typeface="Petrona"/>
                <a:cs typeface="Petrona"/>
                <a:sym typeface="Petrona"/>
              </a:rPr>
              <a:t>Baseline Model and Evaluation Metric</a:t>
            </a:r>
            <a:endParaRPr b="0" i="0" sz="2550" u="none" cap="none" strike="noStrike">
              <a:solidFill>
                <a:schemeClr val="dk1"/>
              </a:solidFill>
              <a:latin typeface="Calibri"/>
              <a:ea typeface="Calibri"/>
              <a:cs typeface="Calibri"/>
              <a:sym typeface="Calibri"/>
            </a:endParaRPr>
          </a:p>
        </p:txBody>
      </p:sp>
      <p:sp>
        <p:nvSpPr>
          <p:cNvPr id="55" name="Google Shape;55;p8"/>
          <p:cNvSpPr/>
          <p:nvPr/>
        </p:nvSpPr>
        <p:spPr>
          <a:xfrm>
            <a:off x="444594" y="1173351"/>
            <a:ext cx="8151900" cy="1410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1050"/>
              </a:spcBef>
              <a:spcAft>
                <a:spcPts val="0"/>
              </a:spcAft>
              <a:buClr>
                <a:srgbClr val="272525"/>
              </a:buClr>
              <a:buSzPts val="950"/>
              <a:buFont typeface="Inter"/>
              <a:buNone/>
            </a:pPr>
            <a:r>
              <a:rPr lang="en-US" sz="950">
                <a:solidFill>
                  <a:srgbClr val="272525"/>
                </a:solidFill>
                <a:latin typeface="Inter"/>
                <a:ea typeface="Inter"/>
                <a:cs typeface="Inter"/>
                <a:sym typeface="Inter"/>
              </a:rPr>
              <a:t>Gabe to add details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9"/>
          <p:cNvSpPr/>
          <p:nvPr/>
        </p:nvSpPr>
        <p:spPr>
          <a:xfrm>
            <a:off x="496119" y="345579"/>
            <a:ext cx="8151763" cy="4070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550"/>
              <a:buFont typeface="Petrona"/>
              <a:buNone/>
            </a:pPr>
            <a:r>
              <a:rPr b="1" i="0" lang="en-US" sz="2550" u="none" cap="none" strike="noStrike">
                <a:solidFill>
                  <a:srgbClr val="000000"/>
                </a:solidFill>
                <a:latin typeface="Petrona"/>
                <a:ea typeface="Petrona"/>
                <a:cs typeface="Petrona"/>
                <a:sym typeface="Petrona"/>
              </a:rPr>
              <a:t>Nightly Data Pull + ETL</a:t>
            </a:r>
            <a:endParaRPr b="0" i="0" sz="2550" u="none" cap="none" strike="noStrike">
              <a:solidFill>
                <a:schemeClr val="dk1"/>
              </a:solidFill>
              <a:latin typeface="Calibri"/>
              <a:ea typeface="Calibri"/>
              <a:cs typeface="Calibri"/>
              <a:sym typeface="Calibri"/>
            </a:endParaRPr>
          </a:p>
        </p:txBody>
      </p:sp>
      <p:sp>
        <p:nvSpPr>
          <p:cNvPr id="62" name="Google Shape;62;p9"/>
          <p:cNvSpPr/>
          <p:nvPr/>
        </p:nvSpPr>
        <p:spPr>
          <a:xfrm>
            <a:off x="496119" y="1000646"/>
            <a:ext cx="8151763" cy="39692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950"/>
              <a:buFont typeface="Inter"/>
              <a:buNone/>
            </a:pPr>
            <a:r>
              <a:rPr b="0" i="0" lang="en-US" sz="950" u="none" cap="none" strike="noStrike">
                <a:solidFill>
                  <a:srgbClr val="272525"/>
                </a:solidFill>
                <a:latin typeface="Inter"/>
                <a:ea typeface="Inter"/>
                <a:cs typeface="Inter"/>
                <a:sym typeface="Inter"/>
              </a:rPr>
              <a:t>While historical data for weather is relatively static, prior days can be revised. Nightly job pulls fresh bronze layer data and then appends to the v3 features table (final version of our features table).</a:t>
            </a:r>
            <a:endParaRPr b="0" i="0" sz="950" u="none" cap="none" strike="noStrike">
              <a:solidFill>
                <a:schemeClr val="dk1"/>
              </a:solidFill>
              <a:latin typeface="Calibri"/>
              <a:ea typeface="Calibri"/>
              <a:cs typeface="Calibri"/>
              <a:sym typeface="Calibri"/>
            </a:endParaRPr>
          </a:p>
        </p:txBody>
      </p:sp>
      <p:pic>
        <p:nvPicPr>
          <p:cNvPr descr="preencoded.png" id="63" name="Google Shape;63;p9"/>
          <p:cNvPicPr preferRelativeResize="0"/>
          <p:nvPr/>
        </p:nvPicPr>
        <p:blipFill rotWithShape="1">
          <a:blip r:embed="rId3">
            <a:alphaModFix/>
          </a:blip>
          <a:srcRect b="0" l="0" r="0" t="0"/>
          <a:stretch/>
        </p:blipFill>
        <p:spPr>
          <a:xfrm>
            <a:off x="496119" y="1537097"/>
            <a:ext cx="5803776" cy="32608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0"/>
          <p:cNvSpPr/>
          <p:nvPr/>
        </p:nvSpPr>
        <p:spPr>
          <a:xfrm>
            <a:off x="496119" y="362099"/>
            <a:ext cx="8151763" cy="31157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950"/>
              <a:buFont typeface="Petrona"/>
              <a:buNone/>
            </a:pPr>
            <a:r>
              <a:rPr b="1" i="0" lang="en-US" sz="1950" u="none" cap="none" strike="noStrike">
                <a:solidFill>
                  <a:srgbClr val="000000"/>
                </a:solidFill>
                <a:latin typeface="Petrona"/>
                <a:ea typeface="Petrona"/>
                <a:cs typeface="Petrona"/>
                <a:sym typeface="Petrona"/>
              </a:rPr>
              <a:t>Feature Engineering</a:t>
            </a:r>
            <a:endParaRPr b="0" i="0" sz="1950" u="none" cap="none" strike="noStrike">
              <a:solidFill>
                <a:schemeClr val="dk1"/>
              </a:solidFill>
              <a:latin typeface="Calibri"/>
              <a:ea typeface="Calibri"/>
              <a:cs typeface="Calibri"/>
              <a:sym typeface="Calibri"/>
            </a:endParaRPr>
          </a:p>
        </p:txBody>
      </p:sp>
      <p:sp>
        <p:nvSpPr>
          <p:cNvPr id="70" name="Google Shape;70;p10"/>
          <p:cNvSpPr/>
          <p:nvPr/>
        </p:nvSpPr>
        <p:spPr>
          <a:xfrm>
            <a:off x="496119" y="819076"/>
            <a:ext cx="2668786" cy="832247"/>
          </a:xfrm>
          <a:prstGeom prst="roundRect">
            <a:avLst>
              <a:gd fmla="val 4793" name="adj"/>
            </a:avLst>
          </a:prstGeom>
          <a:solidFill>
            <a:srgbClr val="FFFFFF">
              <a:alpha val="94902"/>
            </a:srgbClr>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0"/>
          <p:cNvSpPr/>
          <p:nvPr/>
        </p:nvSpPr>
        <p:spPr>
          <a:xfrm>
            <a:off x="600596" y="923553"/>
            <a:ext cx="2459831" cy="1557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950"/>
              <a:buFont typeface="Petrona"/>
              <a:buNone/>
            </a:pPr>
            <a:r>
              <a:rPr b="1" i="0" lang="en-US" sz="950" u="none" cap="none" strike="noStrike">
                <a:solidFill>
                  <a:srgbClr val="272525"/>
                </a:solidFill>
                <a:latin typeface="Petrona"/>
                <a:ea typeface="Petrona"/>
                <a:cs typeface="Petrona"/>
                <a:sym typeface="Petrona"/>
              </a:rPr>
              <a:t>Goal</a:t>
            </a:r>
            <a:endParaRPr b="0" i="0" sz="950" u="none" cap="none" strike="noStrike">
              <a:solidFill>
                <a:schemeClr val="dk1"/>
              </a:solidFill>
              <a:latin typeface="Calibri"/>
              <a:ea typeface="Calibri"/>
              <a:cs typeface="Calibri"/>
              <a:sym typeface="Calibri"/>
            </a:endParaRPr>
          </a:p>
        </p:txBody>
      </p:sp>
      <p:sp>
        <p:nvSpPr>
          <p:cNvPr id="72" name="Google Shape;72;p10"/>
          <p:cNvSpPr/>
          <p:nvPr/>
        </p:nvSpPr>
        <p:spPr>
          <a:xfrm>
            <a:off x="600596" y="1122908"/>
            <a:ext cx="2459831" cy="268188"/>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72525"/>
              </a:buClr>
              <a:buSzPts val="700"/>
              <a:buFont typeface="Inter"/>
              <a:buNone/>
            </a:pPr>
            <a:r>
              <a:rPr b="0" i="0" lang="en-US" sz="700" u="none" cap="none" strike="noStrike">
                <a:solidFill>
                  <a:srgbClr val="272525"/>
                </a:solidFill>
                <a:latin typeface="Inter"/>
                <a:ea typeface="Inter"/>
                <a:cs typeface="Inter"/>
                <a:sym typeface="Inter"/>
              </a:rPr>
              <a:t>Goal is </a:t>
            </a:r>
            <a:r>
              <a:rPr b="0" i="1" lang="en-US" sz="700" u="none" cap="none" strike="noStrike">
                <a:solidFill>
                  <a:srgbClr val="272525"/>
                </a:solidFill>
                <a:latin typeface="Inter"/>
                <a:ea typeface="Inter"/>
                <a:cs typeface="Inter"/>
                <a:sym typeface="Inter"/>
              </a:rPr>
              <a:t>predicting</a:t>
            </a:r>
            <a:r>
              <a:rPr b="0" i="0" lang="en-US" sz="700" u="none" cap="none" strike="noStrike">
                <a:solidFill>
                  <a:srgbClr val="272525"/>
                </a:solidFill>
                <a:latin typeface="Inter"/>
                <a:ea typeface="Inter"/>
                <a:cs typeface="Inter"/>
                <a:sym typeface="Inter"/>
              </a:rPr>
              <a:t> precipitation at Midway tomorrow (T+1).</a:t>
            </a:r>
            <a:endParaRPr b="0" i="0" sz="700" u="none" cap="none" strike="noStrike">
              <a:solidFill>
                <a:schemeClr val="dk1"/>
              </a:solidFill>
              <a:latin typeface="Calibri"/>
              <a:ea typeface="Calibri"/>
              <a:cs typeface="Calibri"/>
              <a:sym typeface="Calibri"/>
            </a:endParaRPr>
          </a:p>
        </p:txBody>
      </p:sp>
      <p:sp>
        <p:nvSpPr>
          <p:cNvPr id="73" name="Google Shape;73;p10"/>
          <p:cNvSpPr/>
          <p:nvPr/>
        </p:nvSpPr>
        <p:spPr>
          <a:xfrm>
            <a:off x="3237607" y="819076"/>
            <a:ext cx="2668786" cy="832247"/>
          </a:xfrm>
          <a:prstGeom prst="roundRect">
            <a:avLst>
              <a:gd fmla="val 4793" name="adj"/>
            </a:avLst>
          </a:prstGeom>
          <a:solidFill>
            <a:srgbClr val="FFFFFF">
              <a:alpha val="94902"/>
            </a:srgbClr>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0"/>
          <p:cNvSpPr/>
          <p:nvPr/>
        </p:nvSpPr>
        <p:spPr>
          <a:xfrm>
            <a:off x="3342084" y="923553"/>
            <a:ext cx="2459831" cy="31149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950"/>
              <a:buFont typeface="Petrona"/>
              <a:buNone/>
            </a:pPr>
            <a:r>
              <a:rPr b="1" i="0" lang="en-US" sz="950" u="none" cap="none" strike="noStrike">
                <a:solidFill>
                  <a:srgbClr val="272525"/>
                </a:solidFill>
                <a:latin typeface="Petrona"/>
                <a:ea typeface="Petrona"/>
                <a:cs typeface="Petrona"/>
                <a:sym typeface="Petrona"/>
              </a:rPr>
              <a:t>Engineered to 44 features, 46 columns total</a:t>
            </a:r>
            <a:endParaRPr b="0" i="0" sz="950" u="none" cap="none" strike="noStrike">
              <a:solidFill>
                <a:schemeClr val="dk1"/>
              </a:solidFill>
              <a:latin typeface="Calibri"/>
              <a:ea typeface="Calibri"/>
              <a:cs typeface="Calibri"/>
              <a:sym typeface="Calibri"/>
            </a:endParaRPr>
          </a:p>
        </p:txBody>
      </p:sp>
      <p:sp>
        <p:nvSpPr>
          <p:cNvPr id="75" name="Google Shape;75;p10"/>
          <p:cNvSpPr/>
          <p:nvPr/>
        </p:nvSpPr>
        <p:spPr>
          <a:xfrm>
            <a:off x="3342084" y="1278657"/>
            <a:ext cx="2459831" cy="268188"/>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72525"/>
              </a:buClr>
              <a:buSzPts val="700"/>
              <a:buFont typeface="Inter"/>
              <a:buNone/>
            </a:pPr>
            <a:r>
              <a:rPr b="1" i="0" lang="en-US" sz="700" u="none" cap="none" strike="noStrike">
                <a:solidFill>
                  <a:srgbClr val="272525"/>
                </a:solidFill>
                <a:latin typeface="Inter"/>
                <a:ea typeface="Inter"/>
                <a:cs typeface="Inter"/>
                <a:sym typeface="Inter"/>
              </a:rPr>
              <a:t>2,445 rows</a:t>
            </a:r>
            <a:r>
              <a:rPr b="0" i="0" lang="en-US" sz="700" u="none" cap="none" strike="noStrike">
                <a:solidFill>
                  <a:srgbClr val="272525"/>
                </a:solidFill>
                <a:latin typeface="Inter"/>
                <a:ea typeface="Inter"/>
                <a:cs typeface="Inter"/>
                <a:sym typeface="Inter"/>
              </a:rPr>
              <a:t>; </a:t>
            </a:r>
            <a:r>
              <a:rPr b="1" i="0" lang="en-US" sz="700" u="none" cap="none" strike="noStrike">
                <a:solidFill>
                  <a:srgbClr val="272525"/>
                </a:solidFill>
                <a:latin typeface="Inter"/>
                <a:ea typeface="Inter"/>
                <a:cs typeface="Inter"/>
                <a:sym typeface="Inter"/>
              </a:rPr>
              <a:t>1,826</a:t>
            </a:r>
            <a:r>
              <a:rPr b="0" i="0" lang="en-US" sz="700" u="none" cap="none" strike="noStrike">
                <a:solidFill>
                  <a:srgbClr val="272525"/>
                </a:solidFill>
                <a:latin typeface="Inter"/>
                <a:ea typeface="Inter"/>
                <a:cs typeface="Inter"/>
                <a:sym typeface="Inter"/>
              </a:rPr>
              <a:t> usable once joined to labels (the label table is pinned to 2020–2024)</a:t>
            </a:r>
            <a:endParaRPr b="0" i="0" sz="700" u="none" cap="none" strike="noStrike">
              <a:solidFill>
                <a:schemeClr val="dk1"/>
              </a:solidFill>
              <a:latin typeface="Calibri"/>
              <a:ea typeface="Calibri"/>
              <a:cs typeface="Calibri"/>
              <a:sym typeface="Calibri"/>
            </a:endParaRPr>
          </a:p>
        </p:txBody>
      </p:sp>
      <p:sp>
        <p:nvSpPr>
          <p:cNvPr id="76" name="Google Shape;76;p10"/>
          <p:cNvSpPr/>
          <p:nvPr/>
        </p:nvSpPr>
        <p:spPr>
          <a:xfrm>
            <a:off x="5979096" y="819076"/>
            <a:ext cx="2668786" cy="832247"/>
          </a:xfrm>
          <a:prstGeom prst="roundRect">
            <a:avLst>
              <a:gd fmla="val 4793" name="adj"/>
            </a:avLst>
          </a:prstGeom>
          <a:solidFill>
            <a:srgbClr val="FFFFFF">
              <a:alpha val="94902"/>
            </a:srgbClr>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0"/>
          <p:cNvSpPr/>
          <p:nvPr/>
        </p:nvSpPr>
        <p:spPr>
          <a:xfrm>
            <a:off x="6083573" y="923553"/>
            <a:ext cx="2459831" cy="31149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72525"/>
              </a:buClr>
              <a:buSzPts val="950"/>
              <a:buFont typeface="Petrona"/>
              <a:buNone/>
            </a:pPr>
            <a:r>
              <a:rPr b="1" i="0" lang="en-US" sz="950" u="none" cap="none" strike="noStrike">
                <a:solidFill>
                  <a:srgbClr val="272525"/>
                </a:solidFill>
                <a:latin typeface="Petrona"/>
                <a:ea typeface="Petrona"/>
                <a:cs typeface="Petrona"/>
                <a:sym typeface="Petrona"/>
              </a:rPr>
              <a:t>Window features, direction embedding, seasonality components</a:t>
            </a:r>
            <a:endParaRPr b="0" i="0" sz="950" u="none" cap="none" strike="noStrike">
              <a:solidFill>
                <a:schemeClr val="dk1"/>
              </a:solidFill>
              <a:latin typeface="Calibri"/>
              <a:ea typeface="Calibri"/>
              <a:cs typeface="Calibri"/>
              <a:sym typeface="Calibri"/>
            </a:endParaRPr>
          </a:p>
        </p:txBody>
      </p:sp>
      <p:sp>
        <p:nvSpPr>
          <p:cNvPr id="78" name="Google Shape;78;p10"/>
          <p:cNvSpPr/>
          <p:nvPr/>
        </p:nvSpPr>
        <p:spPr>
          <a:xfrm>
            <a:off x="6083573" y="1278657"/>
            <a:ext cx="2459831" cy="268188"/>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272525"/>
              </a:buClr>
              <a:buSzPts val="700"/>
              <a:buFont typeface="Inter"/>
              <a:buNone/>
            </a:pPr>
            <a:r>
              <a:rPr b="0" i="0" lang="en-US" sz="700" u="none" cap="none" strike="noStrike">
                <a:solidFill>
                  <a:srgbClr val="272525"/>
                </a:solidFill>
                <a:latin typeface="Inter"/>
                <a:ea typeface="Inter"/>
                <a:cs typeface="Inter"/>
                <a:sym typeface="Inter"/>
              </a:rPr>
              <a:t>Label is shifted UP to t+1, meaning at time T all features are leak-free.</a:t>
            </a:r>
            <a:endParaRPr b="0" i="0" sz="700" u="none" cap="none" strike="noStrike">
              <a:solidFill>
                <a:schemeClr val="dk1"/>
              </a:solidFill>
              <a:latin typeface="Calibri"/>
              <a:ea typeface="Calibri"/>
              <a:cs typeface="Calibri"/>
              <a:sym typeface="Calibri"/>
            </a:endParaRPr>
          </a:p>
        </p:txBody>
      </p:sp>
      <p:pic>
        <p:nvPicPr>
          <p:cNvPr descr="preencoded.png" id="79" name="Google Shape;79;p10"/>
          <p:cNvPicPr preferRelativeResize="0"/>
          <p:nvPr/>
        </p:nvPicPr>
        <p:blipFill rotWithShape="1">
          <a:blip r:embed="rId3">
            <a:alphaModFix/>
          </a:blip>
          <a:srcRect b="0" l="0" r="0" t="0"/>
          <a:stretch/>
        </p:blipFill>
        <p:spPr>
          <a:xfrm>
            <a:off x="496119" y="1814885"/>
            <a:ext cx="4418856" cy="2884736"/>
          </a:xfrm>
          <a:prstGeom prst="rect">
            <a:avLst/>
          </a:prstGeom>
          <a:noFill/>
          <a:ln>
            <a:noFill/>
          </a:ln>
        </p:spPr>
      </p:pic>
      <p:pic>
        <p:nvPicPr>
          <p:cNvPr descr="preencoded.png" id="80" name="Google Shape;80;p10"/>
          <p:cNvPicPr preferRelativeResize="0"/>
          <p:nvPr/>
        </p:nvPicPr>
        <p:blipFill rotWithShape="1">
          <a:blip r:embed="rId4">
            <a:alphaModFix/>
          </a:blip>
          <a:srcRect b="0" l="0" r="0" t="0"/>
          <a:stretch/>
        </p:blipFill>
        <p:spPr>
          <a:xfrm>
            <a:off x="5614764" y="1814885"/>
            <a:ext cx="2694831" cy="1044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1"/>
          <p:cNvSpPr/>
          <p:nvPr/>
        </p:nvSpPr>
        <p:spPr>
          <a:xfrm>
            <a:off x="496119" y="375791"/>
            <a:ext cx="8151763" cy="34342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150"/>
              <a:buFont typeface="Petrona"/>
              <a:buNone/>
            </a:pPr>
            <a:r>
              <a:rPr b="1" i="0" lang="en-US" sz="2150" u="none" cap="none" strike="noStrike">
                <a:solidFill>
                  <a:srgbClr val="000000"/>
                </a:solidFill>
                <a:latin typeface="Petrona"/>
                <a:ea typeface="Petrona"/>
                <a:cs typeface="Petrona"/>
                <a:sym typeface="Petrona"/>
              </a:rPr>
              <a:t>Data Versioning</a:t>
            </a:r>
            <a:endParaRPr b="0" i="0" sz="2150" u="none" cap="none" strike="noStrike">
              <a:solidFill>
                <a:schemeClr val="dk1"/>
              </a:solidFill>
              <a:latin typeface="Calibri"/>
              <a:ea typeface="Calibri"/>
              <a:cs typeface="Calibri"/>
              <a:sym typeface="Calibri"/>
            </a:endParaRPr>
          </a:p>
        </p:txBody>
      </p:sp>
      <p:sp>
        <p:nvSpPr>
          <p:cNvPr id="87" name="Google Shape;87;p11"/>
          <p:cNvSpPr/>
          <p:nvPr/>
        </p:nvSpPr>
        <p:spPr>
          <a:xfrm>
            <a:off x="496119" y="895796"/>
            <a:ext cx="8151763" cy="339700"/>
          </a:xfrm>
          <a:prstGeom prst="rect">
            <a:avLst/>
          </a:prstGeom>
          <a:noFill/>
          <a:ln>
            <a:noFill/>
          </a:ln>
        </p:spPr>
        <p:txBody>
          <a:bodyPr anchorCtr="0" anchor="t" bIns="0" lIns="0" spcFirstLastPara="1" rIns="0" wrap="square" tIns="41850">
            <a:noAutofit/>
          </a:bodyPr>
          <a:lstStyle/>
          <a:p>
            <a:pPr indent="-162560" lvl="0" marL="162560" marR="0" rtl="0" algn="l">
              <a:lnSpc>
                <a:spcPct val="123000"/>
              </a:lnSpc>
              <a:spcBef>
                <a:spcPts val="0"/>
              </a:spcBef>
              <a:spcAft>
                <a:spcPts val="0"/>
              </a:spcAft>
              <a:buClr>
                <a:srgbClr val="272525"/>
              </a:buClr>
              <a:buSzPts val="800"/>
              <a:buFont typeface="Inter"/>
              <a:buChar char="•"/>
            </a:pPr>
            <a:r>
              <a:rPr b="0" i="0" lang="en-US" sz="800" u="none" cap="none" strike="noStrike">
                <a:solidFill>
                  <a:srgbClr val="272525"/>
                </a:solidFill>
                <a:latin typeface="Inter"/>
                <a:ea typeface="Inter"/>
                <a:cs typeface="Inter"/>
                <a:sym typeface="Inter"/>
              </a:rPr>
              <a:t>Different tables map to different feature sets (v1, v2 and v3 each resulting in better-performing models)</a:t>
            </a:r>
            <a:endParaRPr b="0" i="0" sz="800" u="none" cap="none" strike="noStrike">
              <a:solidFill>
                <a:schemeClr val="dk1"/>
              </a:solidFill>
              <a:latin typeface="Calibri"/>
              <a:ea typeface="Calibri"/>
              <a:cs typeface="Calibri"/>
              <a:sym typeface="Calibri"/>
            </a:endParaRPr>
          </a:p>
          <a:p>
            <a:pPr indent="-162560" lvl="0" marL="162560" marR="0" rtl="0" algn="l">
              <a:lnSpc>
                <a:spcPct val="123000"/>
              </a:lnSpc>
              <a:spcBef>
                <a:spcPts val="0"/>
              </a:spcBef>
              <a:spcAft>
                <a:spcPts val="0"/>
              </a:spcAft>
              <a:buClr>
                <a:srgbClr val="272525"/>
              </a:buClr>
              <a:buSzPts val="800"/>
              <a:buFont typeface="Inter"/>
              <a:buChar char="•"/>
            </a:pPr>
            <a:r>
              <a:rPr b="0" i="0" lang="en-US" sz="800" u="none" cap="none" strike="noStrike">
                <a:solidFill>
                  <a:srgbClr val="272525"/>
                </a:solidFill>
                <a:latin typeface="Inter"/>
                <a:ea typeface="Inter"/>
                <a:cs typeface="Inter"/>
                <a:sym typeface="Inter"/>
              </a:rPr>
              <a:t>Delta Tables version the data over time, allowing data lineage</a:t>
            </a:r>
            <a:endParaRPr b="0" i="0" sz="800" u="none" cap="none" strike="noStrike">
              <a:solidFill>
                <a:schemeClr val="dk1"/>
              </a:solidFill>
              <a:latin typeface="Calibri"/>
              <a:ea typeface="Calibri"/>
              <a:cs typeface="Calibri"/>
              <a:sym typeface="Calibri"/>
            </a:endParaRPr>
          </a:p>
        </p:txBody>
      </p:sp>
      <p:pic>
        <p:nvPicPr>
          <p:cNvPr descr="preencoded.png" id="88" name="Google Shape;88;p11"/>
          <p:cNvPicPr preferRelativeResize="0"/>
          <p:nvPr/>
        </p:nvPicPr>
        <p:blipFill rotWithShape="1">
          <a:blip r:embed="rId3">
            <a:alphaModFix/>
          </a:blip>
          <a:srcRect b="0" l="0" r="0" t="0"/>
          <a:stretch/>
        </p:blipFill>
        <p:spPr>
          <a:xfrm>
            <a:off x="496119" y="1334839"/>
            <a:ext cx="4538365" cy="3179118"/>
          </a:xfrm>
          <a:prstGeom prst="rect">
            <a:avLst/>
          </a:prstGeom>
          <a:noFill/>
          <a:ln>
            <a:noFill/>
          </a:ln>
        </p:spPr>
      </p:pic>
      <p:sp>
        <p:nvSpPr>
          <p:cNvPr id="89" name="Google Shape;89;p11"/>
          <p:cNvSpPr/>
          <p:nvPr/>
        </p:nvSpPr>
        <p:spPr>
          <a:xfrm>
            <a:off x="496119" y="4613300"/>
            <a:ext cx="8608963" cy="154409"/>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272525"/>
              </a:buClr>
              <a:buSzPts val="800"/>
              <a:buFont typeface="Inter"/>
              <a:buNone/>
            </a:pPr>
            <a:r>
              <a:rPr b="0" i="0" lang="en-US" sz="800" u="none" cap="none" strike="noStrike">
                <a:solidFill>
                  <a:srgbClr val="272525"/>
                </a:solidFill>
                <a:latin typeface="Inter"/>
                <a:ea typeface="Inter"/>
                <a:cs typeface="Inter"/>
                <a:sym typeface="Inter"/>
              </a:rPr>
              <a:t>Limitation: Data will eventually be deleted and un-recoverable.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2"/>
          <p:cNvSpPr/>
          <p:nvPr/>
        </p:nvSpPr>
        <p:spPr>
          <a:xfrm>
            <a:off x="496119" y="377130"/>
            <a:ext cx="8151763" cy="33709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100"/>
              <a:buFont typeface="Petrona"/>
              <a:buNone/>
            </a:pPr>
            <a:r>
              <a:rPr b="1" i="0" lang="en-US" sz="2100" u="none" cap="none" strike="noStrike">
                <a:solidFill>
                  <a:srgbClr val="000000"/>
                </a:solidFill>
                <a:latin typeface="Petrona"/>
                <a:ea typeface="Petrona"/>
                <a:cs typeface="Petrona"/>
                <a:sym typeface="Petrona"/>
              </a:rPr>
              <a:t>Data Versioning 2</a:t>
            </a:r>
            <a:endParaRPr b="0" i="0" sz="2100" u="none" cap="none" strike="noStrike">
              <a:solidFill>
                <a:schemeClr val="dk1"/>
              </a:solidFill>
              <a:latin typeface="Calibri"/>
              <a:ea typeface="Calibri"/>
              <a:cs typeface="Calibri"/>
              <a:sym typeface="Calibri"/>
            </a:endParaRPr>
          </a:p>
        </p:txBody>
      </p:sp>
      <p:pic>
        <p:nvPicPr>
          <p:cNvPr descr="preencoded.png" id="96" name="Google Shape;96;p12"/>
          <p:cNvPicPr preferRelativeResize="0"/>
          <p:nvPr/>
        </p:nvPicPr>
        <p:blipFill rotWithShape="1">
          <a:blip r:embed="rId3">
            <a:alphaModFix/>
          </a:blip>
          <a:srcRect b="0" l="0" r="0" t="0"/>
          <a:stretch/>
        </p:blipFill>
        <p:spPr>
          <a:xfrm>
            <a:off x="496119" y="884337"/>
            <a:ext cx="4437980" cy="2700338"/>
          </a:xfrm>
          <a:prstGeom prst="rect">
            <a:avLst/>
          </a:prstGeom>
          <a:noFill/>
          <a:ln>
            <a:noFill/>
          </a:ln>
        </p:spPr>
      </p:pic>
      <p:sp>
        <p:nvSpPr>
          <p:cNvPr id="97" name="Google Shape;97;p12"/>
          <p:cNvSpPr/>
          <p:nvPr/>
        </p:nvSpPr>
        <p:spPr>
          <a:xfrm>
            <a:off x="496119" y="3680371"/>
            <a:ext cx="8151763" cy="840135"/>
          </a:xfrm>
          <a:prstGeom prst="rect">
            <a:avLst/>
          </a:prstGeom>
          <a:noFill/>
          <a:ln>
            <a:noFill/>
          </a:ln>
        </p:spPr>
        <p:txBody>
          <a:bodyPr anchorCtr="0" anchor="t" bIns="0" lIns="0" spcFirstLastPara="1" rIns="0" wrap="square" tIns="41075">
            <a:noAutofit/>
          </a:bodyPr>
          <a:lstStyle/>
          <a:p>
            <a:pPr indent="-162560" lvl="0" marL="162560" marR="0" rtl="0" algn="l">
              <a:lnSpc>
                <a:spcPct val="122000"/>
              </a:lnSpc>
              <a:spcBef>
                <a:spcPts val="0"/>
              </a:spcBef>
              <a:spcAft>
                <a:spcPts val="0"/>
              </a:spcAft>
              <a:buClr>
                <a:srgbClr val="272525"/>
              </a:buClr>
              <a:buSzPts val="800"/>
              <a:buFont typeface="Inter"/>
              <a:buChar char="•"/>
            </a:pPr>
            <a:r>
              <a:rPr b="0" i="0" lang="en-US" sz="800" u="none" cap="none" strike="noStrike">
                <a:solidFill>
                  <a:srgbClr val="272525"/>
                </a:solidFill>
                <a:latin typeface="Inter"/>
                <a:ea typeface="Inter"/>
                <a:cs typeface="Inter"/>
                <a:sym typeface="Inter"/>
              </a:rPr>
              <a:t>Experiments log not only the feature version but also the delta version of the table being used. Experiments contain a git commit, allowing reproducibility of the code that produced them*.</a:t>
            </a:r>
            <a:endParaRPr b="0" i="0" sz="800" u="none" cap="none" strike="noStrike">
              <a:solidFill>
                <a:schemeClr val="dk1"/>
              </a:solidFill>
              <a:latin typeface="Calibri"/>
              <a:ea typeface="Calibri"/>
              <a:cs typeface="Calibri"/>
              <a:sym typeface="Calibri"/>
            </a:endParaRPr>
          </a:p>
          <a:p>
            <a:pPr indent="-162560" lvl="0" marL="162560" marR="0" rtl="0" algn="l">
              <a:lnSpc>
                <a:spcPct val="122000"/>
              </a:lnSpc>
              <a:spcBef>
                <a:spcPts val="0"/>
              </a:spcBef>
              <a:spcAft>
                <a:spcPts val="0"/>
              </a:spcAft>
              <a:buClr>
                <a:srgbClr val="272525"/>
              </a:buClr>
              <a:buSzPts val="800"/>
              <a:buFont typeface="Inter"/>
              <a:buChar char="•"/>
            </a:pPr>
            <a:r>
              <a:rPr b="0" i="0" lang="en-US" sz="800" u="none" cap="none" strike="noStrike">
                <a:solidFill>
                  <a:srgbClr val="272525"/>
                </a:solidFill>
                <a:latin typeface="Inter"/>
                <a:ea typeface="Inter"/>
                <a:cs typeface="Inter"/>
                <a:sym typeface="Inter"/>
              </a:rPr>
              <a:t>Git commit allows tracking of which version of the model code submitted the run.</a:t>
            </a:r>
            <a:endParaRPr b="0" i="0" sz="800" u="none" cap="none" strike="noStrike">
              <a:solidFill>
                <a:schemeClr val="dk1"/>
              </a:solidFill>
              <a:latin typeface="Calibri"/>
              <a:ea typeface="Calibri"/>
              <a:cs typeface="Calibri"/>
              <a:sym typeface="Calibri"/>
            </a:endParaRPr>
          </a:p>
          <a:p>
            <a:pPr indent="-162560" lvl="0" marL="162560" marR="0" rtl="0" algn="l">
              <a:lnSpc>
                <a:spcPct val="122000"/>
              </a:lnSpc>
              <a:spcBef>
                <a:spcPts val="0"/>
              </a:spcBef>
              <a:spcAft>
                <a:spcPts val="0"/>
              </a:spcAft>
              <a:buClr>
                <a:srgbClr val="272525"/>
              </a:buClr>
              <a:buSzPts val="800"/>
              <a:buFont typeface="Inter"/>
              <a:buChar char="•"/>
            </a:pPr>
            <a:r>
              <a:rPr b="0" i="0" lang="en-US" sz="800" u="none" cap="none" strike="noStrike">
                <a:solidFill>
                  <a:srgbClr val="272525"/>
                </a:solidFill>
                <a:latin typeface="Inter"/>
                <a:ea typeface="Inter"/>
                <a:cs typeface="Inter"/>
                <a:sym typeface="Inter"/>
              </a:rPr>
              <a:t>Feature_set_version is logged by the experiment notebook.</a:t>
            </a:r>
            <a:endParaRPr b="0" i="0" sz="800" u="none" cap="none" strike="noStrike">
              <a:solidFill>
                <a:schemeClr val="dk1"/>
              </a:solidFill>
              <a:latin typeface="Calibri"/>
              <a:ea typeface="Calibri"/>
              <a:cs typeface="Calibri"/>
              <a:sym typeface="Calibri"/>
            </a:endParaRPr>
          </a:p>
          <a:p>
            <a:pPr indent="-162560" lvl="0" marL="162560" marR="0" rtl="0" algn="l">
              <a:lnSpc>
                <a:spcPct val="122000"/>
              </a:lnSpc>
              <a:spcBef>
                <a:spcPts val="0"/>
              </a:spcBef>
              <a:spcAft>
                <a:spcPts val="0"/>
              </a:spcAft>
              <a:buClr>
                <a:srgbClr val="272525"/>
              </a:buClr>
              <a:buSzPts val="800"/>
              <a:buFont typeface="Inter"/>
              <a:buChar char="•"/>
            </a:pPr>
            <a:r>
              <a:rPr b="0" i="0" lang="en-US" sz="800" u="none" cap="none" strike="noStrike">
                <a:solidFill>
                  <a:srgbClr val="272525"/>
                </a:solidFill>
                <a:latin typeface="Inter"/>
                <a:ea typeface="Inter"/>
                <a:cs typeface="Inter"/>
                <a:sym typeface="Inter"/>
              </a:rPr>
              <a:t>Gate depends on human review during promotion to ensure conformity.</a:t>
            </a:r>
            <a:endParaRPr b="0" i="0" sz="800" u="none" cap="none" strike="noStrike">
              <a:solidFill>
                <a:schemeClr val="dk1"/>
              </a:solidFill>
              <a:latin typeface="Calibri"/>
              <a:ea typeface="Calibri"/>
              <a:cs typeface="Calibri"/>
              <a:sym typeface="Calibri"/>
            </a:endParaRPr>
          </a:p>
        </p:txBody>
      </p:sp>
      <p:sp>
        <p:nvSpPr>
          <p:cNvPr id="98" name="Google Shape;98;p12"/>
          <p:cNvSpPr/>
          <p:nvPr/>
        </p:nvSpPr>
        <p:spPr>
          <a:xfrm>
            <a:off x="496119" y="4616202"/>
            <a:ext cx="8608963" cy="150168"/>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72525"/>
              </a:buClr>
              <a:buSzPts val="800"/>
              <a:buFont typeface="Inter"/>
              <a:buNone/>
            </a:pPr>
            <a:r>
              <a:rPr b="0" i="0" lang="en-US" sz="800" u="none" cap="none" strike="noStrike">
                <a:solidFill>
                  <a:srgbClr val="272525"/>
                </a:solidFill>
                <a:latin typeface="Inter"/>
                <a:ea typeface="Inter"/>
                <a:cs typeface="Inter"/>
                <a:sym typeface="Inter"/>
              </a:rPr>
              <a:t>*assumes that the entire project remains on one git repository.</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descr="preencoded.png" id="104" name="Google Shape;104;p13"/>
          <p:cNvPicPr preferRelativeResize="0"/>
          <p:nvPr/>
        </p:nvPicPr>
        <p:blipFill rotWithShape="1">
          <a:blip r:embed="rId3">
            <a:alphaModFix/>
          </a:blip>
          <a:srcRect b="0" l="0" r="0" t="0"/>
          <a:stretch/>
        </p:blipFill>
        <p:spPr>
          <a:xfrm>
            <a:off x="496119" y="573881"/>
            <a:ext cx="5806604" cy="3260824"/>
          </a:xfrm>
          <a:prstGeom prst="rect">
            <a:avLst/>
          </a:prstGeom>
          <a:noFill/>
          <a:ln>
            <a:noFill/>
          </a:ln>
        </p:spPr>
      </p:pic>
      <p:sp>
        <p:nvSpPr>
          <p:cNvPr id="105" name="Google Shape;105;p13"/>
          <p:cNvSpPr/>
          <p:nvPr/>
        </p:nvSpPr>
        <p:spPr>
          <a:xfrm>
            <a:off x="496119" y="3974232"/>
            <a:ext cx="8151763" cy="59538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950"/>
              <a:buFont typeface="Inter"/>
              <a:buNone/>
            </a:pPr>
            <a:r>
              <a:rPr b="0" i="0" lang="en-US" sz="950" u="none" cap="none" strike="noStrike">
                <a:solidFill>
                  <a:srgbClr val="272525"/>
                </a:solidFill>
                <a:latin typeface="Inter"/>
                <a:ea typeface="Inter"/>
                <a:cs typeface="Inter"/>
                <a:sym typeface="Inter"/>
              </a:rPr>
              <a:t>Lineage shows where features come from and where they're consumed, but it's </a:t>
            </a:r>
            <a:r>
              <a:rPr b="0" i="1" lang="en-US" sz="950" u="none" cap="none" strike="noStrike">
                <a:solidFill>
                  <a:srgbClr val="272525"/>
                </a:solidFill>
                <a:latin typeface="Inter"/>
                <a:ea typeface="Inter"/>
                <a:cs typeface="Inter"/>
                <a:sym typeface="Inter"/>
              </a:rPr>
              <a:t>object-level, not version-level</a:t>
            </a:r>
            <a:r>
              <a:rPr b="0" i="0" lang="en-US" sz="950" u="none" cap="none" strike="noStrike">
                <a:solidFill>
                  <a:srgbClr val="272525"/>
                </a:solidFill>
                <a:latin typeface="Inter"/>
                <a:ea typeface="Inter"/>
                <a:cs typeface="Inter"/>
                <a:sym typeface="Inter"/>
              </a:rPr>
              <a:t> — it can't tell you </a:t>
            </a:r>
            <a:r>
              <a:rPr b="0" i="1" lang="en-US" sz="950" u="none" cap="none" strike="noStrike">
                <a:solidFill>
                  <a:srgbClr val="272525"/>
                </a:solidFill>
                <a:latin typeface="Inter"/>
                <a:ea typeface="Inter"/>
                <a:cs typeface="Inter"/>
                <a:sym typeface="Inter"/>
              </a:rPr>
              <a:t>which</a:t>
            </a:r>
            <a:r>
              <a:rPr b="0" i="0" lang="en-US" sz="950" u="none" cap="none" strike="noStrike">
                <a:solidFill>
                  <a:srgbClr val="272525"/>
                </a:solidFill>
                <a:latin typeface="Inter"/>
                <a:ea typeface="Inter"/>
                <a:cs typeface="Inter"/>
                <a:sym typeface="Inter"/>
              </a:rPr>
              <a:t> version of weather_daily_v3 a model trained on, and that table updates nightly. That's why the Delta version is logged on the MLflow run instead.</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4"/>
          <p:cNvSpPr/>
          <p:nvPr/>
        </p:nvSpPr>
        <p:spPr>
          <a:xfrm>
            <a:off x="496119" y="508769"/>
            <a:ext cx="8151763" cy="4070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550"/>
              <a:buFont typeface="Petrona"/>
              <a:buNone/>
            </a:pPr>
            <a:r>
              <a:rPr b="1" i="0" lang="en-US" sz="2550" u="none" cap="none" strike="noStrike">
                <a:solidFill>
                  <a:srgbClr val="000000"/>
                </a:solidFill>
                <a:latin typeface="Petrona"/>
                <a:ea typeface="Petrona"/>
                <a:cs typeface="Petrona"/>
                <a:sym typeface="Petrona"/>
              </a:rPr>
              <a:t>Experiment Tracking</a:t>
            </a:r>
            <a:endParaRPr b="0" i="0" sz="2550" u="none" cap="none" strike="noStrike">
              <a:solidFill>
                <a:schemeClr val="dk1"/>
              </a:solidFill>
              <a:latin typeface="Calibri"/>
              <a:ea typeface="Calibri"/>
              <a:cs typeface="Calibri"/>
              <a:sym typeface="Calibri"/>
            </a:endParaRPr>
          </a:p>
        </p:txBody>
      </p:sp>
      <p:sp>
        <p:nvSpPr>
          <p:cNvPr id="112" name="Google Shape;112;p14"/>
          <p:cNvSpPr/>
          <p:nvPr/>
        </p:nvSpPr>
        <p:spPr>
          <a:xfrm>
            <a:off x="496119" y="1163836"/>
            <a:ext cx="8608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950"/>
              <a:buFont typeface="Inter"/>
              <a:buNone/>
            </a:pPr>
            <a:r>
              <a:rPr b="0" i="0" lang="en-US" sz="950" u="none" cap="none" strike="noStrike">
                <a:solidFill>
                  <a:srgbClr val="272525"/>
                </a:solidFill>
                <a:latin typeface="Inter"/>
                <a:ea typeface="Inter"/>
                <a:cs typeface="Inter"/>
                <a:sym typeface="Inter"/>
              </a:rPr>
              <a:t>MLFlow is native in databricks, meaning easy experiment tracking.</a:t>
            </a:r>
            <a:endParaRPr b="0" i="0" sz="950" u="none" cap="none" strike="noStrike">
              <a:solidFill>
                <a:schemeClr val="dk1"/>
              </a:solidFill>
              <a:latin typeface="Calibri"/>
              <a:ea typeface="Calibri"/>
              <a:cs typeface="Calibri"/>
              <a:sym typeface="Calibri"/>
            </a:endParaRPr>
          </a:p>
        </p:txBody>
      </p:sp>
      <p:pic>
        <p:nvPicPr>
          <p:cNvPr descr="preencoded.png" id="113" name="Google Shape;113;p14"/>
          <p:cNvPicPr preferRelativeResize="0"/>
          <p:nvPr/>
        </p:nvPicPr>
        <p:blipFill rotWithShape="1">
          <a:blip r:embed="rId3">
            <a:alphaModFix/>
          </a:blip>
          <a:srcRect b="0" l="0" r="0" t="0"/>
          <a:stretch/>
        </p:blipFill>
        <p:spPr>
          <a:xfrm>
            <a:off x="496119" y="1501825"/>
            <a:ext cx="8151763" cy="2258467"/>
          </a:xfrm>
          <a:prstGeom prst="rect">
            <a:avLst/>
          </a:prstGeom>
          <a:noFill/>
          <a:ln>
            <a:noFill/>
          </a:ln>
        </p:spPr>
      </p:pic>
      <p:sp>
        <p:nvSpPr>
          <p:cNvPr id="114" name="Google Shape;114;p14"/>
          <p:cNvSpPr/>
          <p:nvPr/>
        </p:nvSpPr>
        <p:spPr>
          <a:xfrm>
            <a:off x="496119" y="3899818"/>
            <a:ext cx="8151763" cy="73491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950"/>
              <a:buFont typeface="Inter"/>
              <a:buNone/>
            </a:pPr>
            <a:r>
              <a:rPr b="0" i="0" lang="en-US" sz="950" u="none" cap="none" strike="noStrike">
                <a:solidFill>
                  <a:srgbClr val="272525"/>
                </a:solidFill>
                <a:latin typeface="Inter"/>
                <a:ea typeface="Inter"/>
                <a:cs typeface="Inter"/>
                <a:sym typeface="Inter"/>
              </a:rPr>
              <a:t>Stats produced: f1, accuracy, recall, precision.</a:t>
            </a:r>
            <a:endParaRPr b="0" i="0" sz="950" u="none" cap="none" strike="noStrike">
              <a:solidFill>
                <a:schemeClr val="dk1"/>
              </a:solidFill>
              <a:latin typeface="Calibri"/>
              <a:ea typeface="Calibri"/>
              <a:cs typeface="Calibri"/>
              <a:sym typeface="Calibri"/>
            </a:endParaRPr>
          </a:p>
          <a:p>
            <a:pPr indent="0" lvl="0" marL="0" marR="0" rtl="0" algn="l">
              <a:lnSpc>
                <a:spcPct val="133000"/>
              </a:lnSpc>
              <a:spcBef>
                <a:spcPts val="1050"/>
              </a:spcBef>
              <a:spcAft>
                <a:spcPts val="0"/>
              </a:spcAft>
              <a:buClr>
                <a:srgbClr val="272525"/>
              </a:buClr>
              <a:buSzPts val="950"/>
              <a:buFont typeface="Inter"/>
              <a:buNone/>
            </a:pPr>
            <a:r>
              <a:rPr b="0" i="0" lang="en-US" sz="950" u="none" cap="none" strike="noStrike">
                <a:solidFill>
                  <a:srgbClr val="272525"/>
                </a:solidFill>
                <a:latin typeface="Inter"/>
                <a:ea typeface="Inter"/>
                <a:cs typeface="Inter"/>
                <a:sym typeface="Inter"/>
              </a:rPr>
              <a:t>In the context of a high-imbalance classification problem like precipitation prediction, accuracy is not the best measure. Since promotion is manual, however, promotion can be based on all the available metrics as is seen fit by decision makers.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5"/>
          <p:cNvSpPr/>
          <p:nvPr/>
        </p:nvSpPr>
        <p:spPr>
          <a:xfrm>
            <a:off x="496119" y="360983"/>
            <a:ext cx="8151763" cy="33709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100"/>
              <a:buFont typeface="Petrona"/>
              <a:buNone/>
            </a:pPr>
            <a:r>
              <a:rPr b="1" i="0" lang="en-US" sz="2100" u="none" cap="none" strike="noStrike">
                <a:solidFill>
                  <a:srgbClr val="000000"/>
                </a:solidFill>
                <a:latin typeface="Petrona"/>
                <a:ea typeface="Petrona"/>
                <a:cs typeface="Petrona"/>
                <a:sym typeface="Petrona"/>
              </a:rPr>
              <a:t>Deployment: Register your model in Unity Catalog</a:t>
            </a:r>
            <a:endParaRPr b="0" i="0" sz="2100" u="none" cap="none" strike="noStrike">
              <a:solidFill>
                <a:schemeClr val="dk1"/>
              </a:solidFill>
              <a:latin typeface="Calibri"/>
              <a:ea typeface="Calibri"/>
              <a:cs typeface="Calibri"/>
              <a:sym typeface="Calibri"/>
            </a:endParaRPr>
          </a:p>
        </p:txBody>
      </p:sp>
      <p:pic>
        <p:nvPicPr>
          <p:cNvPr descr="preencoded.png" id="121" name="Google Shape;121;p15"/>
          <p:cNvPicPr preferRelativeResize="0"/>
          <p:nvPr/>
        </p:nvPicPr>
        <p:blipFill rotWithShape="1">
          <a:blip r:embed="rId3">
            <a:alphaModFix/>
          </a:blip>
          <a:srcRect b="0" l="0" r="0" t="0"/>
          <a:stretch/>
        </p:blipFill>
        <p:spPr>
          <a:xfrm>
            <a:off x="496119" y="698064"/>
            <a:ext cx="7537474" cy="3518296"/>
          </a:xfrm>
          <a:prstGeom prst="rect">
            <a:avLst/>
          </a:prstGeom>
          <a:noFill/>
          <a:ln>
            <a:noFill/>
          </a:ln>
        </p:spPr>
      </p:pic>
      <p:sp>
        <p:nvSpPr>
          <p:cNvPr id="122" name="Google Shape;122;p15"/>
          <p:cNvSpPr/>
          <p:nvPr/>
        </p:nvSpPr>
        <p:spPr>
          <a:xfrm>
            <a:off x="496119" y="4317682"/>
            <a:ext cx="8151900" cy="3003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72525"/>
              </a:buClr>
              <a:buSzPts val="800"/>
              <a:buFont typeface="Inter"/>
              <a:buNone/>
            </a:pPr>
            <a:r>
              <a:rPr b="0" i="0" lang="en-US" sz="1200" u="none" cap="none" strike="noStrike">
                <a:solidFill>
                  <a:srgbClr val="272525"/>
                </a:solidFill>
                <a:latin typeface="Inter"/>
                <a:ea typeface="Inter"/>
                <a:cs typeface="Inter"/>
                <a:sym typeface="Inter"/>
              </a:rPr>
              <a:t>From experiment tracking, we can take an experimental artifact and promote this asset into a versioned, governed model. Unity Catalogue hosts our models and data versions simultaneously while allowing us to permission and trace lineage very simply.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6"/>
          <p:cNvSpPr/>
          <p:nvPr/>
        </p:nvSpPr>
        <p:spPr>
          <a:xfrm>
            <a:off x="496119" y="348704"/>
            <a:ext cx="8151763" cy="29252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800"/>
              <a:buFont typeface="Petrona"/>
              <a:buNone/>
            </a:pPr>
            <a:r>
              <a:rPr b="1" i="0" lang="en-US" sz="1800" u="none" cap="none" strike="noStrike">
                <a:solidFill>
                  <a:srgbClr val="000000"/>
                </a:solidFill>
                <a:latin typeface="Petrona"/>
                <a:ea typeface="Petrona"/>
                <a:cs typeface="Petrona"/>
                <a:sym typeface="Petrona"/>
              </a:rPr>
              <a:t>Serving Endpoints</a:t>
            </a:r>
            <a:endParaRPr b="0" i="0" sz="1800" u="none" cap="none" strike="noStrike">
              <a:solidFill>
                <a:schemeClr val="dk1"/>
              </a:solidFill>
              <a:latin typeface="Calibri"/>
              <a:ea typeface="Calibri"/>
              <a:cs typeface="Calibri"/>
              <a:sym typeface="Calibri"/>
            </a:endParaRPr>
          </a:p>
        </p:txBody>
      </p:sp>
      <p:sp>
        <p:nvSpPr>
          <p:cNvPr id="129" name="Google Shape;129;p16"/>
          <p:cNvSpPr/>
          <p:nvPr/>
        </p:nvSpPr>
        <p:spPr>
          <a:xfrm>
            <a:off x="496119" y="769367"/>
            <a:ext cx="8608963" cy="1225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700"/>
              <a:buFont typeface="Inter"/>
              <a:buNone/>
            </a:pPr>
            <a:r>
              <a:rPr b="0" i="0" lang="en-US" sz="700" u="none" cap="none" strike="noStrike">
                <a:solidFill>
                  <a:srgbClr val="272525"/>
                </a:solidFill>
                <a:latin typeface="Inter"/>
                <a:ea typeface="Inter"/>
                <a:cs typeface="Inter"/>
                <a:sym typeface="Inter"/>
              </a:rPr>
              <a:t>Goal: Databricks streamlines the entire deployment process.</a:t>
            </a:r>
            <a:endParaRPr b="0" i="0" sz="700" u="none" cap="none" strike="noStrike">
              <a:solidFill>
                <a:schemeClr val="dk1"/>
              </a:solidFill>
              <a:latin typeface="Calibri"/>
              <a:ea typeface="Calibri"/>
              <a:cs typeface="Calibri"/>
              <a:sym typeface="Calibri"/>
            </a:endParaRPr>
          </a:p>
        </p:txBody>
      </p:sp>
      <p:pic>
        <p:nvPicPr>
          <p:cNvPr descr="preencoded.png" id="130" name="Google Shape;130;p16"/>
          <p:cNvPicPr preferRelativeResize="0"/>
          <p:nvPr/>
        </p:nvPicPr>
        <p:blipFill rotWithShape="1">
          <a:blip r:embed="rId3">
            <a:alphaModFix/>
          </a:blip>
          <a:srcRect b="0" l="0" r="0" t="0"/>
          <a:stretch/>
        </p:blipFill>
        <p:spPr>
          <a:xfrm>
            <a:off x="428399" y="967601"/>
            <a:ext cx="6840422" cy="2845599"/>
          </a:xfrm>
          <a:prstGeom prst="rect">
            <a:avLst/>
          </a:prstGeom>
          <a:noFill/>
          <a:ln>
            <a:noFill/>
          </a:ln>
        </p:spPr>
      </p:pic>
      <p:sp>
        <p:nvSpPr>
          <p:cNvPr id="131" name="Google Shape;131;p16"/>
          <p:cNvSpPr/>
          <p:nvPr/>
        </p:nvSpPr>
        <p:spPr>
          <a:xfrm>
            <a:off x="428394" y="3962666"/>
            <a:ext cx="8151900" cy="367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72525"/>
              </a:buClr>
              <a:buSzPts val="700"/>
              <a:buFont typeface="Inter"/>
              <a:buNone/>
            </a:pPr>
            <a:r>
              <a:rPr i="0" lang="en-US" sz="1100" u="none" cap="none" strike="noStrike">
                <a:solidFill>
                  <a:schemeClr val="dk1"/>
                </a:solidFill>
                <a:latin typeface="Inter"/>
                <a:ea typeface="Inter"/>
                <a:cs typeface="Inter"/>
                <a:sym typeface="Inter"/>
              </a:rPr>
              <a:t>By </a:t>
            </a:r>
            <a:r>
              <a:rPr lang="en-US" sz="1100">
                <a:solidFill>
                  <a:schemeClr val="dk1"/>
                </a:solidFill>
                <a:latin typeface="Inter"/>
                <a:ea typeface="Inter"/>
                <a:cs typeface="Inter"/>
                <a:sym typeface="Inter"/>
              </a:rPr>
              <a:t>host our model on</a:t>
            </a:r>
            <a:r>
              <a:rPr i="0" lang="en-US" sz="1100" u="none" cap="none" strike="noStrike">
                <a:solidFill>
                  <a:schemeClr val="dk1"/>
                </a:solidFill>
                <a:latin typeface="Inter"/>
                <a:ea typeface="Inter"/>
                <a:cs typeface="Inter"/>
                <a:sym typeface="Inter"/>
              </a:rPr>
              <a:t> Databricks, we don't have to Dockerize. </a:t>
            </a:r>
            <a:endParaRPr i="0" sz="1100" u="none" cap="none" strike="noStrike">
              <a:solidFill>
                <a:schemeClr val="dk1"/>
              </a:solidFill>
              <a:latin typeface="Inter"/>
              <a:ea typeface="Inter"/>
              <a:cs typeface="Inter"/>
              <a:sym typeface="Inter"/>
            </a:endParaRPr>
          </a:p>
          <a:p>
            <a:pPr indent="0" lvl="0" marL="0" marR="0" rtl="0" algn="l">
              <a:lnSpc>
                <a:spcPct val="115000"/>
              </a:lnSpc>
              <a:spcBef>
                <a:spcPts val="0"/>
              </a:spcBef>
              <a:spcAft>
                <a:spcPts val="0"/>
              </a:spcAft>
              <a:buClr>
                <a:srgbClr val="272525"/>
              </a:buClr>
              <a:buSzPts val="700"/>
              <a:buFont typeface="Inter"/>
              <a:buNone/>
            </a:pPr>
            <a:r>
              <a:rPr i="0" lang="en-US" sz="1100" u="none" cap="none" strike="noStrike">
                <a:solidFill>
                  <a:schemeClr val="dk1"/>
                </a:solidFill>
                <a:latin typeface="Inter"/>
                <a:ea typeface="Inter"/>
                <a:cs typeface="Inter"/>
                <a:sym typeface="Inter"/>
              </a:rPr>
              <a:t>Logging to MLflow captures the environment, and serving the model builds a container from that spec on our behalf. </a:t>
            </a:r>
            <a:endParaRPr i="0" sz="1100" u="none" cap="none" strike="noStrike">
              <a:solidFill>
                <a:schemeClr val="dk1"/>
              </a:solidFill>
              <a:latin typeface="Inter"/>
              <a:ea typeface="Inter"/>
              <a:cs typeface="Inter"/>
              <a:sym typeface="Inter"/>
            </a:endParaRPr>
          </a:p>
          <a:p>
            <a:pPr indent="0" lvl="0" marL="0" marR="0" rtl="0" algn="l">
              <a:lnSpc>
                <a:spcPct val="115000"/>
              </a:lnSpc>
              <a:spcBef>
                <a:spcPts val="0"/>
              </a:spcBef>
              <a:spcAft>
                <a:spcPts val="0"/>
              </a:spcAft>
              <a:buClr>
                <a:srgbClr val="272525"/>
              </a:buClr>
              <a:buSzPts val="700"/>
              <a:buFont typeface="Inter"/>
              <a:buNone/>
            </a:pPr>
            <a:r>
              <a:rPr i="0" lang="en-US" sz="1100" u="none" cap="none" strike="noStrike">
                <a:solidFill>
                  <a:schemeClr val="dk1"/>
                </a:solidFill>
                <a:latin typeface="Inter"/>
                <a:ea typeface="Inter"/>
                <a:cs typeface="Inter"/>
                <a:sym typeface="Inter"/>
              </a:rPr>
              <a:t>We are able to easily track registered versions of our models, and </a:t>
            </a:r>
            <a:r>
              <a:rPr lang="en-US" sz="1100">
                <a:solidFill>
                  <a:schemeClr val="dk1"/>
                </a:solidFill>
                <a:latin typeface="Inter"/>
                <a:ea typeface="Inter"/>
                <a:cs typeface="Inter"/>
                <a:sym typeface="Inter"/>
              </a:rPr>
              <a:t>registered versions also let one endpoint host a champion and challengers behind a single URL with a traffic split. Should we move our model off of Databricks,</a:t>
            </a:r>
            <a:r>
              <a:rPr i="0" lang="en-US" sz="1100" u="none" cap="none" strike="noStrike">
                <a:solidFill>
                  <a:schemeClr val="dk1"/>
                </a:solidFill>
                <a:latin typeface="Inter"/>
                <a:ea typeface="Inter"/>
                <a:cs typeface="Inter"/>
                <a:sym typeface="Inter"/>
              </a:rPr>
              <a:t> we would look to dockerize.</a:t>
            </a:r>
            <a:endParaRPr i="0" sz="1100" u="none" cap="none" strike="noStrike">
              <a:solidFill>
                <a:schemeClr val="dk1"/>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descr="preencoded.png" id="137" name="Google Shape;137;p17"/>
          <p:cNvPicPr preferRelativeResize="0"/>
          <p:nvPr/>
        </p:nvPicPr>
        <p:blipFill rotWithShape="1">
          <a:blip r:embed="rId3">
            <a:alphaModFix/>
          </a:blip>
          <a:srcRect b="0" l="0" r="44333" t="0"/>
          <a:stretch/>
        </p:blipFill>
        <p:spPr>
          <a:xfrm>
            <a:off x="157475" y="945650"/>
            <a:ext cx="3306602" cy="2978975"/>
          </a:xfrm>
          <a:prstGeom prst="rect">
            <a:avLst/>
          </a:prstGeom>
          <a:noFill/>
          <a:ln>
            <a:noFill/>
          </a:ln>
        </p:spPr>
      </p:pic>
      <p:sp>
        <p:nvSpPr>
          <p:cNvPr id="138" name="Google Shape;138;p17"/>
          <p:cNvSpPr/>
          <p:nvPr/>
        </p:nvSpPr>
        <p:spPr>
          <a:xfrm>
            <a:off x="496119" y="4099919"/>
            <a:ext cx="8151900" cy="16800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272525"/>
              </a:buClr>
              <a:buSzPts val="500"/>
              <a:buFont typeface="Inter"/>
              <a:buNone/>
            </a:pPr>
            <a:r>
              <a:rPr lang="en-US" sz="1200">
                <a:solidFill>
                  <a:schemeClr val="dk1"/>
                </a:solidFill>
              </a:rPr>
              <a:t>Serving endpoints can log requests and predictions to a Unity Catalog inference table automatically, which feeds Evidently without any capture code in the scoring path. But inference tables require an external storage catalog, and our workspace uses default storage, thus we decided to implement the capture layer ourselves. We took on the write path and its failure modes, opting for a fail-close mode, and received schema control and portability in exchange. </a:t>
            </a:r>
            <a:endParaRPr b="0" i="0" sz="1200" u="none" cap="none" strike="noStrike">
              <a:solidFill>
                <a:schemeClr val="dk1"/>
              </a:solidFill>
              <a:latin typeface="Calibri"/>
              <a:ea typeface="Calibri"/>
              <a:cs typeface="Calibri"/>
              <a:sym typeface="Calibri"/>
            </a:endParaRPr>
          </a:p>
        </p:txBody>
      </p:sp>
      <p:pic>
        <p:nvPicPr>
          <p:cNvPr descr="preencoded.png" id="139" name="Google Shape;139;p17"/>
          <p:cNvPicPr preferRelativeResize="0"/>
          <p:nvPr/>
        </p:nvPicPr>
        <p:blipFill rotWithShape="1">
          <a:blip r:embed="rId4">
            <a:alphaModFix/>
          </a:blip>
          <a:srcRect b="0" l="0" r="0" t="0"/>
          <a:stretch/>
        </p:blipFill>
        <p:spPr>
          <a:xfrm>
            <a:off x="4429200" y="1036825"/>
            <a:ext cx="4218826" cy="2796625"/>
          </a:xfrm>
          <a:prstGeom prst="rect">
            <a:avLst/>
          </a:prstGeom>
          <a:noFill/>
          <a:ln>
            <a:noFill/>
          </a:ln>
        </p:spPr>
      </p:pic>
      <p:sp>
        <p:nvSpPr>
          <p:cNvPr id="140" name="Google Shape;140;p17"/>
          <p:cNvSpPr/>
          <p:nvPr/>
        </p:nvSpPr>
        <p:spPr>
          <a:xfrm>
            <a:off x="496119" y="348704"/>
            <a:ext cx="8151900" cy="292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800"/>
              <a:buFont typeface="Petrona"/>
              <a:buNone/>
            </a:pPr>
            <a:r>
              <a:rPr b="1" lang="en-US" sz="1800">
                <a:latin typeface="Petrona"/>
                <a:ea typeface="Petrona"/>
                <a:cs typeface="Petrona"/>
                <a:sym typeface="Petrona"/>
              </a:rPr>
              <a:t>Model</a:t>
            </a:r>
            <a:r>
              <a:rPr b="1" i="0" lang="en-US" sz="1800" u="none" cap="none" strike="noStrike">
                <a:solidFill>
                  <a:srgbClr val="000000"/>
                </a:solidFill>
                <a:latin typeface="Petrona"/>
                <a:ea typeface="Petrona"/>
                <a:cs typeface="Petrona"/>
                <a:sym typeface="Petrona"/>
              </a:rPr>
              <a:t> Endpoints</a:t>
            </a:r>
            <a:endParaRPr b="0" i="0" sz="1800" u="none" cap="none" strike="noStrike">
              <a:solidFill>
                <a:schemeClr val="dk1"/>
              </a:solidFill>
              <a:latin typeface="Calibri"/>
              <a:ea typeface="Calibri"/>
              <a:cs typeface="Calibri"/>
              <a:sym typeface="Calibri"/>
            </a:endParaRPr>
          </a:p>
        </p:txBody>
      </p:sp>
      <p:sp>
        <p:nvSpPr>
          <p:cNvPr id="141" name="Google Shape;141;p17"/>
          <p:cNvSpPr txBox="1"/>
          <p:nvPr/>
        </p:nvSpPr>
        <p:spPr>
          <a:xfrm>
            <a:off x="4886475" y="58050"/>
            <a:ext cx="3000000" cy="93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100"/>
              <a:t>Databricks also allows us to test our endpoint in the browser, quickly allowing us to spin up our model, establish that our model is running, and begin testing.</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p:nvPr/>
        </p:nvSpPr>
        <p:spPr>
          <a:xfrm>
            <a:off x="496119" y="533474"/>
            <a:ext cx="8151763" cy="4070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550"/>
              <a:buFont typeface="Petrona"/>
              <a:buNone/>
            </a:pPr>
            <a:r>
              <a:rPr b="1" i="0" lang="en-US" sz="2550" u="none" cap="none" strike="noStrike">
                <a:solidFill>
                  <a:srgbClr val="000000"/>
                </a:solidFill>
                <a:latin typeface="Petrona"/>
                <a:ea typeface="Petrona"/>
                <a:cs typeface="Petrona"/>
                <a:sym typeface="Petrona"/>
              </a:rPr>
              <a:t>Evidently AI </a:t>
            </a:r>
            <a:r>
              <a:rPr b="1" lang="en-US" sz="2550">
                <a:latin typeface="Petrona"/>
                <a:ea typeface="Petrona"/>
                <a:cs typeface="Petrona"/>
                <a:sym typeface="Petrona"/>
              </a:rPr>
              <a:t>Report</a:t>
            </a:r>
            <a:r>
              <a:rPr b="1" i="0" lang="en-US" sz="2550" u="none" cap="none" strike="noStrike">
                <a:solidFill>
                  <a:srgbClr val="000000"/>
                </a:solidFill>
                <a:latin typeface="Petrona"/>
                <a:ea typeface="Petrona"/>
                <a:cs typeface="Petrona"/>
                <a:sym typeface="Petrona"/>
              </a:rPr>
              <a:t> </a:t>
            </a:r>
            <a:r>
              <a:rPr b="1" lang="en-US" sz="2550">
                <a:latin typeface="Petrona"/>
                <a:ea typeface="Petrona"/>
                <a:cs typeface="Petrona"/>
                <a:sym typeface="Petrona"/>
              </a:rPr>
              <a:t>on</a:t>
            </a:r>
            <a:r>
              <a:rPr b="1" i="0" lang="en-US" sz="2550" u="none" cap="none" strike="noStrike">
                <a:solidFill>
                  <a:srgbClr val="000000"/>
                </a:solidFill>
                <a:latin typeface="Petrona"/>
                <a:ea typeface="Petrona"/>
                <a:cs typeface="Petrona"/>
                <a:sym typeface="Petrona"/>
              </a:rPr>
              <a:t> Drift Monitoring</a:t>
            </a:r>
            <a:endParaRPr b="0" i="0" sz="2550" u="none" cap="none" strike="noStrike">
              <a:solidFill>
                <a:schemeClr val="dk1"/>
              </a:solidFill>
              <a:latin typeface="Calibri"/>
              <a:ea typeface="Calibri"/>
              <a:cs typeface="Calibri"/>
              <a:sym typeface="Calibri"/>
            </a:endParaRPr>
          </a:p>
        </p:txBody>
      </p:sp>
      <p:sp>
        <p:nvSpPr>
          <p:cNvPr id="148" name="Google Shape;148;p18"/>
          <p:cNvSpPr/>
          <p:nvPr/>
        </p:nvSpPr>
        <p:spPr>
          <a:xfrm>
            <a:off x="496119" y="3614886"/>
            <a:ext cx="378998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
        <p:nvSpPr>
          <p:cNvPr id="149" name="Google Shape;149;p18"/>
          <p:cNvSpPr/>
          <p:nvPr/>
        </p:nvSpPr>
        <p:spPr>
          <a:xfrm>
            <a:off x="6340050" y="1296075"/>
            <a:ext cx="2704500" cy="1649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950"/>
              <a:buFont typeface="Inter"/>
              <a:buNone/>
            </a:pPr>
            <a:r>
              <a:rPr b="0" i="0" lang="en-US" sz="1150" u="none" cap="none" strike="noStrike">
                <a:solidFill>
                  <a:srgbClr val="272525"/>
                </a:solidFill>
                <a:latin typeface="Inter"/>
                <a:ea typeface="Inter"/>
                <a:cs typeface="Inter"/>
                <a:sym typeface="Inter"/>
              </a:rPr>
              <a:t>Evidently AI</a:t>
            </a:r>
            <a:r>
              <a:rPr lang="en-US" sz="1150">
                <a:solidFill>
                  <a:srgbClr val="272525"/>
                </a:solidFill>
                <a:latin typeface="Inter"/>
                <a:ea typeface="Inter"/>
                <a:cs typeface="Inter"/>
                <a:sym typeface="Inter"/>
              </a:rPr>
              <a:t> is a library which allows us to monitor, evaluate and test our </a:t>
            </a:r>
            <a:r>
              <a:rPr lang="en-US" sz="1150">
                <a:solidFill>
                  <a:srgbClr val="272525"/>
                </a:solidFill>
                <a:latin typeface="Inter"/>
                <a:ea typeface="Inter"/>
                <a:cs typeface="Inter"/>
                <a:sym typeface="Inter"/>
              </a:rPr>
              <a:t>production</a:t>
            </a:r>
            <a:r>
              <a:rPr lang="en-US" sz="1150">
                <a:solidFill>
                  <a:srgbClr val="272525"/>
                </a:solidFill>
                <a:latin typeface="Inter"/>
                <a:ea typeface="Inter"/>
                <a:cs typeface="Inter"/>
                <a:sym typeface="Inter"/>
              </a:rPr>
              <a:t> models. We were able to assess that there was drift in 4 of our features, but with a threshold of 0.5, there was no dataset drift detected.</a:t>
            </a:r>
            <a:endParaRPr sz="1150">
              <a:solidFill>
                <a:srgbClr val="272525"/>
              </a:solidFill>
              <a:latin typeface="Inter"/>
              <a:ea typeface="Inter"/>
              <a:cs typeface="Inter"/>
              <a:sym typeface="Inter"/>
            </a:endParaRPr>
          </a:p>
          <a:p>
            <a:pPr indent="0" lvl="0" marL="0" marR="0" rtl="0" algn="l">
              <a:lnSpc>
                <a:spcPct val="133000"/>
              </a:lnSpc>
              <a:spcBef>
                <a:spcPts val="0"/>
              </a:spcBef>
              <a:spcAft>
                <a:spcPts val="0"/>
              </a:spcAft>
              <a:buClr>
                <a:srgbClr val="272525"/>
              </a:buClr>
              <a:buSzPts val="950"/>
              <a:buFont typeface="Inter"/>
              <a:buNone/>
            </a:pPr>
            <a:r>
              <a:t/>
            </a:r>
            <a:endParaRPr sz="1150">
              <a:solidFill>
                <a:srgbClr val="272525"/>
              </a:solidFill>
              <a:latin typeface="Inter"/>
              <a:ea typeface="Inter"/>
              <a:cs typeface="Inter"/>
              <a:sym typeface="Inter"/>
            </a:endParaRPr>
          </a:p>
          <a:p>
            <a:pPr indent="0" lvl="0" marL="0" marR="0" rtl="0" algn="l">
              <a:lnSpc>
                <a:spcPct val="133000"/>
              </a:lnSpc>
              <a:spcBef>
                <a:spcPts val="0"/>
              </a:spcBef>
              <a:spcAft>
                <a:spcPts val="0"/>
              </a:spcAft>
              <a:buClr>
                <a:srgbClr val="272525"/>
              </a:buClr>
              <a:buSzPts val="950"/>
              <a:buFont typeface="Inter"/>
              <a:buNone/>
            </a:pPr>
            <a:r>
              <a:rPr lang="en-US" sz="1200">
                <a:solidFill>
                  <a:schemeClr val="dk1"/>
                </a:solidFill>
              </a:rPr>
              <a:t>these flags reflect our reference/current split rather than real temporal drift, so we're using them to identify which features to keep an eye on in simulated drift scenarios.</a:t>
            </a:r>
            <a:endParaRPr sz="1150">
              <a:solidFill>
                <a:srgbClr val="272525"/>
              </a:solidFill>
              <a:latin typeface="Inter"/>
              <a:ea typeface="Inter"/>
              <a:cs typeface="Inter"/>
              <a:sym typeface="Inter"/>
            </a:endParaRPr>
          </a:p>
        </p:txBody>
      </p:sp>
      <p:pic>
        <p:nvPicPr>
          <p:cNvPr id="150" name="Google Shape;150;p18"/>
          <p:cNvPicPr preferRelativeResize="0"/>
          <p:nvPr/>
        </p:nvPicPr>
        <p:blipFill>
          <a:blip r:embed="rId3">
            <a:alphaModFix/>
          </a:blip>
          <a:stretch>
            <a:fillRect/>
          </a:stretch>
        </p:blipFill>
        <p:spPr>
          <a:xfrm>
            <a:off x="244525" y="1144775"/>
            <a:ext cx="6025651" cy="35424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9"/>
          <p:cNvSpPr/>
          <p:nvPr/>
        </p:nvSpPr>
        <p:spPr>
          <a:xfrm>
            <a:off x="496119" y="419100"/>
            <a:ext cx="8151763" cy="37519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350"/>
              <a:buFont typeface="Petrona"/>
              <a:buNone/>
            </a:pPr>
            <a:r>
              <a:rPr b="1" lang="en-US" sz="2350">
                <a:latin typeface="Petrona"/>
                <a:ea typeface="Petrona"/>
                <a:cs typeface="Petrona"/>
                <a:sym typeface="Petrona"/>
              </a:rPr>
              <a:t>Baseline Validation</a:t>
            </a:r>
            <a:endParaRPr b="0" i="0" sz="2350" u="none" cap="none" strike="noStrike">
              <a:solidFill>
                <a:schemeClr val="dk1"/>
              </a:solidFill>
              <a:latin typeface="Calibri"/>
              <a:ea typeface="Calibri"/>
              <a:cs typeface="Calibri"/>
              <a:sym typeface="Calibri"/>
            </a:endParaRPr>
          </a:p>
        </p:txBody>
      </p:sp>
      <p:sp>
        <p:nvSpPr>
          <p:cNvPr id="157" name="Google Shape;157;p19"/>
          <p:cNvSpPr/>
          <p:nvPr/>
        </p:nvSpPr>
        <p:spPr>
          <a:xfrm>
            <a:off x="496125" y="1069025"/>
            <a:ext cx="8151900" cy="8613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950"/>
              <a:buFont typeface="Inter"/>
              <a:buNone/>
            </a:pPr>
            <a:r>
              <a:rPr lang="en-US" sz="1150">
                <a:solidFill>
                  <a:srgbClr val="272525"/>
                </a:solidFill>
                <a:latin typeface="Inter"/>
                <a:ea typeface="Inter"/>
                <a:cs typeface="Inter"/>
                <a:sym typeface="Inter"/>
              </a:rPr>
              <a:t>Passed the real test dataset through the deployed API (logreg_direct_endpoint) and validated results against the monitoring baseline.</a:t>
            </a:r>
            <a:endParaRPr sz="1150">
              <a:solidFill>
                <a:srgbClr val="272525"/>
              </a:solidFill>
              <a:latin typeface="Inter"/>
              <a:ea typeface="Inter"/>
              <a:cs typeface="Inter"/>
              <a:sym typeface="Inter"/>
            </a:endParaRPr>
          </a:p>
        </p:txBody>
      </p:sp>
      <p:pic>
        <p:nvPicPr>
          <p:cNvPr id="158" name="Google Shape;158;p19" title="Screenshot 2026-08-19 at 9.59.42 AM.png"/>
          <p:cNvPicPr preferRelativeResize="0"/>
          <p:nvPr/>
        </p:nvPicPr>
        <p:blipFill>
          <a:blip r:embed="rId3">
            <a:alphaModFix/>
          </a:blip>
          <a:stretch>
            <a:fillRect/>
          </a:stretch>
        </p:blipFill>
        <p:spPr>
          <a:xfrm>
            <a:off x="420713" y="4130450"/>
            <a:ext cx="8302574" cy="781950"/>
          </a:xfrm>
          <a:prstGeom prst="rect">
            <a:avLst/>
          </a:prstGeom>
          <a:noFill/>
          <a:ln>
            <a:noFill/>
          </a:ln>
        </p:spPr>
      </p:pic>
      <p:pic>
        <p:nvPicPr>
          <p:cNvPr id="159" name="Google Shape;159;p19" title="Screenshot 2026-08-19 at 10.01.51 AM.png"/>
          <p:cNvPicPr preferRelativeResize="0"/>
          <p:nvPr/>
        </p:nvPicPr>
        <p:blipFill>
          <a:blip r:embed="rId4">
            <a:alphaModFix/>
          </a:blip>
          <a:stretch>
            <a:fillRect/>
          </a:stretch>
        </p:blipFill>
        <p:spPr>
          <a:xfrm>
            <a:off x="3450325" y="1775900"/>
            <a:ext cx="5272949" cy="1939350"/>
          </a:xfrm>
          <a:prstGeom prst="rect">
            <a:avLst/>
          </a:prstGeom>
          <a:noFill/>
          <a:ln>
            <a:noFill/>
          </a:ln>
        </p:spPr>
      </p:pic>
      <p:sp>
        <p:nvSpPr>
          <p:cNvPr id="160" name="Google Shape;160;p19"/>
          <p:cNvSpPr/>
          <p:nvPr/>
        </p:nvSpPr>
        <p:spPr>
          <a:xfrm>
            <a:off x="496125" y="1884500"/>
            <a:ext cx="2706300" cy="17583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950"/>
              <a:buFont typeface="Inter"/>
              <a:buNone/>
            </a:pPr>
            <a:r>
              <a:rPr lang="en-US" sz="1150">
                <a:solidFill>
                  <a:srgbClr val="272525"/>
                </a:solidFill>
                <a:latin typeface="Inter"/>
                <a:ea typeface="Inter"/>
                <a:cs typeface="Inter"/>
                <a:sym typeface="Inter"/>
              </a:rPr>
              <a:t>Endpoint returned a healthy mix of predictions: 35% "Bad" vs. a 26% training baseline </a:t>
            </a:r>
            <a:endParaRPr sz="1150">
              <a:solidFill>
                <a:srgbClr val="272525"/>
              </a:solidFill>
              <a:latin typeface="Inter"/>
              <a:ea typeface="Inter"/>
              <a:cs typeface="Inter"/>
              <a:sym typeface="Inter"/>
            </a:endParaRPr>
          </a:p>
          <a:p>
            <a:pPr indent="0" lvl="0" marL="0" marR="0" rtl="0" algn="l">
              <a:lnSpc>
                <a:spcPct val="133000"/>
              </a:lnSpc>
              <a:spcBef>
                <a:spcPts val="0"/>
              </a:spcBef>
              <a:spcAft>
                <a:spcPts val="0"/>
              </a:spcAft>
              <a:buClr>
                <a:srgbClr val="272525"/>
              </a:buClr>
              <a:buSzPts val="950"/>
              <a:buFont typeface="Inter"/>
              <a:buNone/>
            </a:pPr>
            <a:r>
              <a:t/>
            </a:r>
            <a:endParaRPr sz="1150">
              <a:solidFill>
                <a:srgbClr val="272525"/>
              </a:solidFill>
              <a:latin typeface="Inter"/>
              <a:ea typeface="Inter"/>
              <a:cs typeface="Inter"/>
              <a:sym typeface="Inter"/>
            </a:endParaRPr>
          </a:p>
          <a:p>
            <a:pPr indent="0" lvl="0" marL="0" marR="0" rtl="0" algn="l">
              <a:lnSpc>
                <a:spcPct val="133000"/>
              </a:lnSpc>
              <a:spcBef>
                <a:spcPts val="0"/>
              </a:spcBef>
              <a:spcAft>
                <a:spcPts val="0"/>
              </a:spcAft>
              <a:buClr>
                <a:srgbClr val="272525"/>
              </a:buClr>
              <a:buSzPts val="950"/>
              <a:buFont typeface="Inter"/>
              <a:buNone/>
            </a:pPr>
            <a:r>
              <a:rPr lang="en-US" sz="1150">
                <a:solidFill>
                  <a:srgbClr val="272525"/>
                </a:solidFill>
                <a:latin typeface="Inter"/>
                <a:ea typeface="Inter"/>
                <a:cs typeface="Inter"/>
                <a:sym typeface="Inter"/>
              </a:rPr>
              <a:t>This confirmed the model responded correctly to real, undrifted production data before any stress test began.</a:t>
            </a:r>
            <a:endParaRPr sz="1150">
              <a:solidFill>
                <a:srgbClr val="272525"/>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0"/>
          <p:cNvSpPr/>
          <p:nvPr/>
        </p:nvSpPr>
        <p:spPr>
          <a:xfrm>
            <a:off x="496119" y="419100"/>
            <a:ext cx="8151900" cy="375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350"/>
              <a:buFont typeface="Petrona"/>
              <a:buNone/>
            </a:pPr>
            <a:r>
              <a:rPr b="1" lang="en-US" sz="2350">
                <a:latin typeface="Petrona"/>
                <a:ea typeface="Petrona"/>
                <a:cs typeface="Petrona"/>
                <a:sym typeface="Petrona"/>
              </a:rPr>
              <a:t>Stress-Test / Drift Simulation</a:t>
            </a:r>
            <a:endParaRPr b="0" i="0" sz="2350" u="none" cap="none" strike="noStrike">
              <a:solidFill>
                <a:schemeClr val="dk1"/>
              </a:solidFill>
              <a:latin typeface="Calibri"/>
              <a:ea typeface="Calibri"/>
              <a:cs typeface="Calibri"/>
              <a:sym typeface="Calibri"/>
            </a:endParaRPr>
          </a:p>
        </p:txBody>
      </p:sp>
      <p:sp>
        <p:nvSpPr>
          <p:cNvPr id="167" name="Google Shape;167;p20"/>
          <p:cNvSpPr/>
          <p:nvPr/>
        </p:nvSpPr>
        <p:spPr>
          <a:xfrm>
            <a:off x="496125" y="1187500"/>
            <a:ext cx="2704500" cy="3383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72525"/>
              </a:buClr>
              <a:buSzPts val="950"/>
              <a:buFont typeface="Inter"/>
              <a:buNone/>
            </a:pPr>
            <a:r>
              <a:rPr lang="en-US" sz="1150">
                <a:solidFill>
                  <a:srgbClr val="272525"/>
                </a:solidFill>
                <a:latin typeface="Inter"/>
                <a:ea typeface="Inter"/>
                <a:cs typeface="Inter"/>
                <a:sym typeface="Inter"/>
              </a:rPr>
              <a:t>Next we artificially corrupted the test dataset across six realistic failure modes: </a:t>
            </a:r>
            <a:endParaRPr sz="1150">
              <a:solidFill>
                <a:srgbClr val="272525"/>
              </a:solidFill>
              <a:latin typeface="Inter"/>
              <a:ea typeface="Inter"/>
              <a:cs typeface="Inter"/>
              <a:sym typeface="Inter"/>
            </a:endParaRPr>
          </a:p>
          <a:p>
            <a:pPr indent="-301625" lvl="0" marL="457200" marR="0" rtl="0" algn="l">
              <a:lnSpc>
                <a:spcPct val="133000"/>
              </a:lnSpc>
              <a:spcBef>
                <a:spcPts val="0"/>
              </a:spcBef>
              <a:spcAft>
                <a:spcPts val="0"/>
              </a:spcAft>
              <a:buClr>
                <a:srgbClr val="272525"/>
              </a:buClr>
              <a:buSzPts val="1150"/>
              <a:buFont typeface="Inter"/>
              <a:buAutoNum type="arabicPeriod"/>
            </a:pPr>
            <a:r>
              <a:rPr lang="en-US" sz="1150">
                <a:solidFill>
                  <a:srgbClr val="272525"/>
                </a:solidFill>
                <a:latin typeface="Inter"/>
                <a:ea typeface="Inter"/>
                <a:cs typeface="Inter"/>
                <a:sym typeface="Inter"/>
              </a:rPr>
              <a:t>Sensor value shift</a:t>
            </a:r>
            <a:endParaRPr sz="1150">
              <a:solidFill>
                <a:srgbClr val="272525"/>
              </a:solidFill>
              <a:latin typeface="Inter"/>
              <a:ea typeface="Inter"/>
              <a:cs typeface="Inter"/>
              <a:sym typeface="Inter"/>
            </a:endParaRPr>
          </a:p>
          <a:p>
            <a:pPr indent="-301625" lvl="0" marL="457200" marR="0" rtl="0" algn="l">
              <a:lnSpc>
                <a:spcPct val="133000"/>
              </a:lnSpc>
              <a:spcBef>
                <a:spcPts val="0"/>
              </a:spcBef>
              <a:spcAft>
                <a:spcPts val="0"/>
              </a:spcAft>
              <a:buClr>
                <a:srgbClr val="272525"/>
              </a:buClr>
              <a:buSzPts val="1150"/>
              <a:buFont typeface="Inter"/>
              <a:buAutoNum type="arabicPeriod"/>
            </a:pPr>
            <a:r>
              <a:rPr lang="en-US" sz="1150">
                <a:solidFill>
                  <a:srgbClr val="272525"/>
                </a:solidFill>
                <a:latin typeface="Inter"/>
                <a:ea typeface="Inter"/>
                <a:cs typeface="Inter"/>
                <a:sym typeface="Inter"/>
              </a:rPr>
              <a:t>Missing data (~30% nulled)</a:t>
            </a:r>
            <a:endParaRPr sz="1150">
              <a:solidFill>
                <a:srgbClr val="272525"/>
              </a:solidFill>
              <a:latin typeface="Inter"/>
              <a:ea typeface="Inter"/>
              <a:cs typeface="Inter"/>
              <a:sym typeface="Inter"/>
            </a:endParaRPr>
          </a:p>
          <a:p>
            <a:pPr indent="-301625" lvl="0" marL="457200" marR="0" rtl="0" algn="l">
              <a:lnSpc>
                <a:spcPct val="133000"/>
              </a:lnSpc>
              <a:spcBef>
                <a:spcPts val="0"/>
              </a:spcBef>
              <a:spcAft>
                <a:spcPts val="0"/>
              </a:spcAft>
              <a:buClr>
                <a:srgbClr val="272525"/>
              </a:buClr>
              <a:buSzPts val="1150"/>
              <a:buFont typeface="Inter"/>
              <a:buAutoNum type="arabicPeriod"/>
            </a:pPr>
            <a:r>
              <a:rPr lang="en-US" sz="1150">
                <a:solidFill>
                  <a:srgbClr val="272525"/>
                </a:solidFill>
                <a:latin typeface="Inter"/>
                <a:ea typeface="Inter"/>
                <a:cs typeface="Inter"/>
                <a:sym typeface="Inter"/>
              </a:rPr>
              <a:t>Schema change (renamed/dropped columns)</a:t>
            </a:r>
            <a:endParaRPr sz="1150">
              <a:solidFill>
                <a:srgbClr val="272525"/>
              </a:solidFill>
              <a:latin typeface="Inter"/>
              <a:ea typeface="Inter"/>
              <a:cs typeface="Inter"/>
              <a:sym typeface="Inter"/>
            </a:endParaRPr>
          </a:p>
          <a:p>
            <a:pPr indent="-301625" lvl="0" marL="457200" marR="0" rtl="0" algn="l">
              <a:lnSpc>
                <a:spcPct val="133000"/>
              </a:lnSpc>
              <a:spcBef>
                <a:spcPts val="0"/>
              </a:spcBef>
              <a:spcAft>
                <a:spcPts val="0"/>
              </a:spcAft>
              <a:buClr>
                <a:srgbClr val="272525"/>
              </a:buClr>
              <a:buSzPts val="1150"/>
              <a:buFont typeface="Inter"/>
              <a:buAutoNum type="arabicPeriod"/>
            </a:pPr>
            <a:r>
              <a:rPr lang="en-US" sz="1150">
                <a:solidFill>
                  <a:srgbClr val="272525"/>
                </a:solidFill>
                <a:latin typeface="Inter"/>
                <a:ea typeface="Inter"/>
                <a:cs typeface="Inter"/>
                <a:sym typeface="Inter"/>
              </a:rPr>
              <a:t>Unit conversion error</a:t>
            </a:r>
            <a:endParaRPr sz="1150">
              <a:solidFill>
                <a:srgbClr val="272525"/>
              </a:solidFill>
              <a:latin typeface="Inter"/>
              <a:ea typeface="Inter"/>
              <a:cs typeface="Inter"/>
              <a:sym typeface="Inter"/>
            </a:endParaRPr>
          </a:p>
          <a:p>
            <a:pPr indent="-301625" lvl="0" marL="457200" marR="0" rtl="0" algn="l">
              <a:lnSpc>
                <a:spcPct val="133000"/>
              </a:lnSpc>
              <a:spcBef>
                <a:spcPts val="0"/>
              </a:spcBef>
              <a:spcAft>
                <a:spcPts val="0"/>
              </a:spcAft>
              <a:buClr>
                <a:srgbClr val="272525"/>
              </a:buClr>
              <a:buSzPts val="1150"/>
              <a:buFont typeface="Inter"/>
              <a:buAutoNum type="arabicPeriod"/>
            </a:pPr>
            <a:r>
              <a:rPr lang="en-US" sz="1150">
                <a:solidFill>
                  <a:srgbClr val="272525"/>
                </a:solidFill>
                <a:latin typeface="Inter"/>
                <a:ea typeface="Inter"/>
                <a:cs typeface="Inter"/>
                <a:sym typeface="Inter"/>
              </a:rPr>
              <a:t>Stuck/frozen sensor</a:t>
            </a:r>
            <a:endParaRPr sz="1150">
              <a:solidFill>
                <a:srgbClr val="272525"/>
              </a:solidFill>
              <a:latin typeface="Inter"/>
              <a:ea typeface="Inter"/>
              <a:cs typeface="Inter"/>
              <a:sym typeface="Inter"/>
            </a:endParaRPr>
          </a:p>
          <a:p>
            <a:pPr indent="-301625" lvl="0" marL="457200" marR="0" rtl="0" algn="l">
              <a:lnSpc>
                <a:spcPct val="133000"/>
              </a:lnSpc>
              <a:spcBef>
                <a:spcPts val="0"/>
              </a:spcBef>
              <a:spcAft>
                <a:spcPts val="0"/>
              </a:spcAft>
              <a:buClr>
                <a:srgbClr val="272525"/>
              </a:buClr>
              <a:buSzPts val="1150"/>
              <a:buFont typeface="Inter"/>
              <a:buAutoNum type="arabicPeriod"/>
            </a:pPr>
            <a:r>
              <a:rPr lang="en-US" sz="1150">
                <a:solidFill>
                  <a:srgbClr val="272525"/>
                </a:solidFill>
                <a:latin typeface="Inter"/>
                <a:ea typeface="Inter"/>
                <a:cs typeface="Inter"/>
                <a:sym typeface="Inter"/>
              </a:rPr>
              <a:t>Statistical outliers</a:t>
            </a:r>
            <a:endParaRPr sz="1150">
              <a:solidFill>
                <a:srgbClr val="272525"/>
              </a:solidFill>
              <a:latin typeface="Inter"/>
              <a:ea typeface="Inter"/>
              <a:cs typeface="Inter"/>
              <a:sym typeface="Inter"/>
            </a:endParaRPr>
          </a:p>
          <a:p>
            <a:pPr indent="0" lvl="0" marL="457200" marR="0" rtl="0" algn="l">
              <a:lnSpc>
                <a:spcPct val="133000"/>
              </a:lnSpc>
              <a:spcBef>
                <a:spcPts val="0"/>
              </a:spcBef>
              <a:spcAft>
                <a:spcPts val="0"/>
              </a:spcAft>
              <a:buNone/>
            </a:pPr>
            <a:r>
              <a:t/>
            </a:r>
            <a:endParaRPr sz="1150">
              <a:solidFill>
                <a:srgbClr val="272525"/>
              </a:solidFill>
              <a:latin typeface="Inter"/>
              <a:ea typeface="Inter"/>
              <a:cs typeface="Inter"/>
              <a:sym typeface="Inter"/>
            </a:endParaRPr>
          </a:p>
          <a:p>
            <a:pPr indent="0" lvl="0" marL="0" marR="0" rtl="0" algn="l">
              <a:lnSpc>
                <a:spcPct val="133000"/>
              </a:lnSpc>
              <a:spcBef>
                <a:spcPts val="0"/>
              </a:spcBef>
              <a:spcAft>
                <a:spcPts val="0"/>
              </a:spcAft>
              <a:buNone/>
            </a:pPr>
            <a:r>
              <a:rPr lang="en-US" sz="1150">
                <a:solidFill>
                  <a:srgbClr val="272525"/>
                </a:solidFill>
                <a:latin typeface="Inter"/>
                <a:ea typeface="Inter"/>
                <a:cs typeface="Inter"/>
                <a:sym typeface="Inter"/>
              </a:rPr>
              <a:t>Each applied to 500 real feature rows before being sent to the deployed model.</a:t>
            </a:r>
            <a:endParaRPr sz="1150">
              <a:solidFill>
                <a:srgbClr val="272525"/>
              </a:solidFill>
              <a:latin typeface="Inter"/>
              <a:ea typeface="Inter"/>
              <a:cs typeface="Inter"/>
              <a:sym typeface="Inter"/>
            </a:endParaRPr>
          </a:p>
        </p:txBody>
      </p:sp>
      <p:pic>
        <p:nvPicPr>
          <p:cNvPr id="168" name="Google Shape;168;p20"/>
          <p:cNvPicPr preferRelativeResize="0"/>
          <p:nvPr/>
        </p:nvPicPr>
        <p:blipFill>
          <a:blip r:embed="rId3">
            <a:alphaModFix/>
          </a:blip>
          <a:stretch>
            <a:fillRect/>
          </a:stretch>
        </p:blipFill>
        <p:spPr>
          <a:xfrm>
            <a:off x="3372750" y="1501588"/>
            <a:ext cx="5638576" cy="275521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1"/>
          <p:cNvSpPr/>
          <p:nvPr/>
        </p:nvSpPr>
        <p:spPr>
          <a:xfrm>
            <a:off x="496119" y="419100"/>
            <a:ext cx="8151900" cy="375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350"/>
              <a:buFont typeface="Petrona"/>
              <a:buNone/>
            </a:pPr>
            <a:r>
              <a:rPr b="1" lang="en-US" sz="2350">
                <a:latin typeface="Petrona"/>
                <a:ea typeface="Petrona"/>
                <a:cs typeface="Petrona"/>
                <a:sym typeface="Petrona"/>
              </a:rPr>
              <a:t>Anomaly Verification</a:t>
            </a:r>
            <a:endParaRPr b="0" i="0" sz="2350" u="none" cap="none" strike="noStrike">
              <a:solidFill>
                <a:schemeClr val="dk1"/>
              </a:solidFill>
              <a:latin typeface="Calibri"/>
              <a:ea typeface="Calibri"/>
              <a:cs typeface="Calibri"/>
              <a:sym typeface="Calibri"/>
            </a:endParaRPr>
          </a:p>
        </p:txBody>
      </p:sp>
      <p:sp>
        <p:nvSpPr>
          <p:cNvPr id="175" name="Google Shape;175;p21"/>
          <p:cNvSpPr/>
          <p:nvPr/>
        </p:nvSpPr>
        <p:spPr>
          <a:xfrm>
            <a:off x="496125" y="1502987"/>
            <a:ext cx="2258400" cy="264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1150">
                <a:solidFill>
                  <a:srgbClr val="272525"/>
                </a:solidFill>
                <a:latin typeface="Inter"/>
                <a:ea typeface="Inter"/>
                <a:cs typeface="Inter"/>
                <a:sym typeface="Inter"/>
              </a:rPr>
              <a:t>We sent each drifted dataset to the deployed model and verified how the monitoring dashboard responds. </a:t>
            </a:r>
            <a:endParaRPr sz="1150">
              <a:solidFill>
                <a:srgbClr val="272525"/>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US" sz="1150">
                <a:solidFill>
                  <a:srgbClr val="272525"/>
                </a:solidFill>
                <a:latin typeface="Inter"/>
                <a:ea typeface="Inter"/>
                <a:cs typeface="Inter"/>
                <a:sym typeface="Inter"/>
              </a:rPr>
              <a:t>The dashboard's flag reported only 8.9% of columns drifted </a:t>
            </a:r>
            <a:endParaRPr sz="1150">
              <a:solidFill>
                <a:srgbClr val="272525"/>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US" sz="1150">
                <a:solidFill>
                  <a:srgbClr val="272525"/>
                </a:solidFill>
                <a:latin typeface="Inter"/>
                <a:ea typeface="Inter"/>
                <a:cs typeface="Inter"/>
                <a:sym typeface="Inter"/>
              </a:rPr>
              <a:t>Per-column severity check that correctly escalates real risk: Sensor Shift → "investigate immediately," while lower-risk scenarios correctly stay quiet.</a:t>
            </a:r>
            <a:endParaRPr sz="1150">
              <a:solidFill>
                <a:srgbClr val="272525"/>
              </a:solidFill>
              <a:latin typeface="Inter"/>
              <a:ea typeface="Inter"/>
              <a:cs typeface="Inter"/>
              <a:sym typeface="Inter"/>
            </a:endParaRPr>
          </a:p>
          <a:p>
            <a:pPr indent="0" lvl="0" marL="0" marR="0" rtl="0" algn="l">
              <a:lnSpc>
                <a:spcPct val="133000"/>
              </a:lnSpc>
              <a:spcBef>
                <a:spcPts val="1200"/>
              </a:spcBef>
              <a:spcAft>
                <a:spcPts val="0"/>
              </a:spcAft>
              <a:buClr>
                <a:srgbClr val="272525"/>
              </a:buClr>
              <a:buSzPts val="950"/>
              <a:buFont typeface="Inter"/>
              <a:buNone/>
            </a:pPr>
            <a:r>
              <a:t/>
            </a:r>
            <a:endParaRPr sz="1150">
              <a:solidFill>
                <a:srgbClr val="272525"/>
              </a:solidFill>
              <a:latin typeface="Inter"/>
              <a:ea typeface="Inter"/>
              <a:cs typeface="Inter"/>
              <a:sym typeface="Inter"/>
            </a:endParaRPr>
          </a:p>
        </p:txBody>
      </p:sp>
      <p:pic>
        <p:nvPicPr>
          <p:cNvPr id="176" name="Google Shape;176;p21"/>
          <p:cNvPicPr preferRelativeResize="0"/>
          <p:nvPr/>
        </p:nvPicPr>
        <p:blipFill>
          <a:blip r:embed="rId3">
            <a:alphaModFix/>
          </a:blip>
          <a:stretch>
            <a:fillRect/>
          </a:stretch>
        </p:blipFill>
        <p:spPr>
          <a:xfrm>
            <a:off x="3058800" y="1385163"/>
            <a:ext cx="5905299" cy="2885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p:nvPr/>
        </p:nvSpPr>
        <p:spPr>
          <a:xfrm>
            <a:off x="0" y="0"/>
            <a:ext cx="3429000" cy="5143500"/>
          </a:xfrm>
          <a:prstGeom prst="rect">
            <a:avLst/>
          </a:prstGeom>
          <a:solidFill>
            <a:srgbClr val="CC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3" name="Google Shape;183;p22"/>
          <p:cNvPicPr preferRelativeResize="0"/>
          <p:nvPr/>
        </p:nvPicPr>
        <p:blipFill rotWithShape="1">
          <a:blip r:embed="rId3">
            <a:alphaModFix/>
          </a:blip>
          <a:srcRect b="0" l="0" r="0" t="0"/>
          <a:stretch/>
        </p:blipFill>
        <p:spPr>
          <a:xfrm>
            <a:off x="61987" y="368424"/>
            <a:ext cx="3304952" cy="4406652"/>
          </a:xfrm>
          <a:prstGeom prst="rect">
            <a:avLst/>
          </a:prstGeom>
          <a:noFill/>
          <a:ln>
            <a:noFill/>
          </a:ln>
        </p:spPr>
      </p:pic>
      <p:sp>
        <p:nvSpPr>
          <p:cNvPr id="184" name="Google Shape;184;p22"/>
          <p:cNvSpPr/>
          <p:nvPr/>
        </p:nvSpPr>
        <p:spPr>
          <a:xfrm>
            <a:off x="3925119" y="2175942"/>
            <a:ext cx="4722763" cy="4070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550"/>
              <a:buFont typeface="Petrona"/>
              <a:buNone/>
            </a:pPr>
            <a:r>
              <a:rPr b="1" i="0" lang="en-US" sz="2550" u="none" cap="none" strike="noStrike">
                <a:solidFill>
                  <a:srgbClr val="000000"/>
                </a:solidFill>
                <a:latin typeface="Petrona"/>
                <a:ea typeface="Petrona"/>
                <a:cs typeface="Petrona"/>
                <a:sym typeface="Petrona"/>
              </a:rPr>
              <a:t>Repo Link</a:t>
            </a:r>
            <a:endParaRPr b="0" i="0" sz="2550" u="none" cap="none" strike="noStrike">
              <a:solidFill>
                <a:schemeClr val="dk1"/>
              </a:solidFill>
              <a:latin typeface="Calibri"/>
              <a:ea typeface="Calibri"/>
              <a:cs typeface="Calibri"/>
              <a:sym typeface="Calibri"/>
            </a:endParaRPr>
          </a:p>
        </p:txBody>
      </p:sp>
      <p:sp>
        <p:nvSpPr>
          <p:cNvPr id="185" name="Google Shape;185;p22"/>
          <p:cNvSpPr/>
          <p:nvPr/>
        </p:nvSpPr>
        <p:spPr>
          <a:xfrm>
            <a:off x="3925119" y="2769022"/>
            <a:ext cx="5179963" cy="19846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7EBD"/>
              </a:buClr>
              <a:buSzPts val="950"/>
              <a:buFont typeface="Inter"/>
              <a:buNone/>
            </a:pPr>
            <a:r>
              <a:rPr b="1" i="0" lang="en-US" sz="1450" u="sng" cap="none" strike="noStrike">
                <a:solidFill>
                  <a:schemeClr val="hlink"/>
                </a:solidFill>
                <a:latin typeface="Inter"/>
                <a:ea typeface="Inter"/>
                <a:cs typeface="Inter"/>
                <a:sym typeface="Inter"/>
                <a:hlinkClick r:id="rId4"/>
              </a:rPr>
              <a:t>https://github.com/lilykendall/adsp32021_mlops_final</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3"/>
          <p:cNvSpPr/>
          <p:nvPr/>
        </p:nvSpPr>
        <p:spPr>
          <a:xfrm>
            <a:off x="496119" y="419100"/>
            <a:ext cx="8151900" cy="375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350"/>
              <a:buFont typeface="Petrona"/>
              <a:buNone/>
            </a:pPr>
            <a:r>
              <a:rPr b="1" lang="en-US" sz="2350">
                <a:latin typeface="Petrona"/>
                <a:ea typeface="Petrona"/>
                <a:cs typeface="Petrona"/>
                <a:sym typeface="Petrona"/>
              </a:rPr>
              <a:t>Appendix</a:t>
            </a:r>
            <a:endParaRPr b="0" i="0" sz="2350" u="none" cap="none" strike="noStrike">
              <a:solidFill>
                <a:schemeClr val="dk1"/>
              </a:solidFill>
              <a:latin typeface="Calibri"/>
              <a:ea typeface="Calibri"/>
              <a:cs typeface="Calibri"/>
              <a:sym typeface="Calibri"/>
            </a:endParaRPr>
          </a:p>
        </p:txBody>
      </p:sp>
      <p:pic>
        <p:nvPicPr>
          <p:cNvPr id="192" name="Google Shape;192;p23"/>
          <p:cNvPicPr preferRelativeResize="0"/>
          <p:nvPr/>
        </p:nvPicPr>
        <p:blipFill>
          <a:blip r:embed="rId3">
            <a:alphaModFix/>
          </a:blip>
          <a:stretch>
            <a:fillRect/>
          </a:stretch>
        </p:blipFill>
        <p:spPr>
          <a:xfrm>
            <a:off x="471363" y="927175"/>
            <a:ext cx="8201424" cy="40075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p:nvPr/>
        </p:nvSpPr>
        <p:spPr>
          <a:xfrm>
            <a:off x="496119" y="419100"/>
            <a:ext cx="8151900" cy="375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350"/>
              <a:buFont typeface="Petrona"/>
              <a:buNone/>
            </a:pPr>
            <a:r>
              <a:rPr b="1" lang="en-US" sz="2350">
                <a:latin typeface="Petrona"/>
                <a:ea typeface="Petrona"/>
                <a:cs typeface="Petrona"/>
                <a:sym typeface="Petrona"/>
              </a:rPr>
              <a:t>Appendix</a:t>
            </a:r>
            <a:endParaRPr b="0" i="0" sz="2350" u="none" cap="none" strike="noStrike">
              <a:solidFill>
                <a:schemeClr val="dk1"/>
              </a:solidFill>
              <a:latin typeface="Calibri"/>
              <a:ea typeface="Calibri"/>
              <a:cs typeface="Calibri"/>
              <a:sym typeface="Calibri"/>
            </a:endParaRPr>
          </a:p>
        </p:txBody>
      </p:sp>
      <p:pic>
        <p:nvPicPr>
          <p:cNvPr id="199" name="Google Shape;199;p24"/>
          <p:cNvPicPr preferRelativeResize="0"/>
          <p:nvPr/>
        </p:nvPicPr>
        <p:blipFill>
          <a:blip r:embed="rId3">
            <a:alphaModFix/>
          </a:blip>
          <a:stretch>
            <a:fillRect/>
          </a:stretch>
        </p:blipFill>
        <p:spPr>
          <a:xfrm>
            <a:off x="428938" y="917175"/>
            <a:ext cx="8286113" cy="40443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5"/>
          <p:cNvSpPr/>
          <p:nvPr/>
        </p:nvSpPr>
        <p:spPr>
          <a:xfrm>
            <a:off x="496119" y="419100"/>
            <a:ext cx="8151900" cy="375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2350"/>
              <a:buFont typeface="Petrona"/>
              <a:buNone/>
            </a:pPr>
            <a:r>
              <a:rPr b="1" lang="en-US" sz="2350">
                <a:latin typeface="Petrona"/>
                <a:ea typeface="Petrona"/>
                <a:cs typeface="Petrona"/>
                <a:sym typeface="Petrona"/>
              </a:rPr>
              <a:t>Appendix</a:t>
            </a:r>
            <a:endParaRPr b="0" i="0" sz="2350" u="none" cap="none" strike="noStrike">
              <a:solidFill>
                <a:schemeClr val="dk1"/>
              </a:solidFill>
              <a:latin typeface="Calibri"/>
              <a:ea typeface="Calibri"/>
              <a:cs typeface="Calibri"/>
              <a:sym typeface="Calibri"/>
            </a:endParaRPr>
          </a:p>
        </p:txBody>
      </p:sp>
      <p:pic>
        <p:nvPicPr>
          <p:cNvPr id="206" name="Google Shape;206;p25" title="Screenshot 2026-08-19 at 9.46.12 AM.png"/>
          <p:cNvPicPr preferRelativeResize="0"/>
          <p:nvPr/>
        </p:nvPicPr>
        <p:blipFill>
          <a:blip r:embed="rId3">
            <a:alphaModFix/>
          </a:blip>
          <a:stretch>
            <a:fillRect/>
          </a:stretch>
        </p:blipFill>
        <p:spPr>
          <a:xfrm>
            <a:off x="903538" y="880900"/>
            <a:ext cx="7337072" cy="40442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7EBD"/>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7EBD"/>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